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50ac56e-da51-5314-30f4-ce681e4fbdf4}">
          <p14:sldIdLst>
            <p14:sldId id="256"/>
          </p14:sldIdLst>
        </p14:section>
        <p14:section name="JAS review" id="{097c5be1-c6bb-55c1-ff44-36a1eb55c77b}">
          <p14:sldIdLst>
            <p14:sldId id="257"/>
            <p14:sldId id="258"/>
            <p14:sldId id="259"/>
            <p14:sldId id="260"/>
            <p14:sldId id="261"/>
            <p14:sldId id="262"/>
            <p14:sldId id="263"/>
            <p14:sldId id="264"/>
          </p14:sldIdLst>
        </p14:section>
        <p14:section name="OND plan" id="{9d4f7701-851e-69c9-fc8b-e669feaf4b08}">
          <p14:sldIdLst>
            <p14:sldId id="265"/>
          </p14:sldIdLst>
        </p14:section>
        <p14:section name="Close" id="{bd4ab3cc-2a06-650a-7afc-f2f291e5ea28}">
          <p14:sldIdLst>
            <p14:sldId id="266"/>
          </p14:sldIdLst>
        </p14:section>
        <p14:section name="Appendix" id="{8a734bc8-23d5-d5bb-7874-4bafe72ff549}">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1F1F"/>
                </a:solidFill>
                <a:latin typeface="+mn-lt"/>
              </a:defRPr>
            </a:pPr>
            <a:r>
              <a:rPr sz="1300" b="0" i="0" u="none" strike="noStrike">
                <a:solidFill>
                  <a:srgbClr val="1F1F1F"/>
                </a:solidFill>
                <a:latin typeface="+mn-lt"/>
              </a:rPr>
              <a:t>Projects started per month, by status</a:t>
            </a:r>
          </a:p>
        </c:rich>
      </c:tx>
      <c:layout/>
      <c:overlay val="0"/>
    </c:title>
    <c:autoTitleDeleted val="0"/>
    <c:plotArea>
      <c:layout/>
      <c:barChart>
        <c:barDir val="col"/>
        <c:grouping val="stacked"/>
        <c:varyColors val="0"/>
        <c:ser>
          <c:idx val="0"/>
          <c:order val="0"/>
          <c:tx>
            <c:strRef>
              <c:f>Sheet1!$B$1</c:f>
              <c:strCache>
                <c:ptCount val="1"/>
                <c:pt idx="0">
                  <c:v>Completed</c:v>
                </c:pt>
              </c:strCache>
            </c:strRef>
          </c:tx>
          <c:spPr>
            <a:solidFill>
              <a:srgbClr val="2E7D4F"/>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July</c:v>
                  </c:pt>
                  <c:pt idx="1">
                    <c:v>August</c:v>
                  </c:pt>
                  <c:pt idx="2">
                    <c:v>September</c:v>
                  </c:pt>
                </c:lvl>
              </c:multiLvlStrCache>
            </c:multiLvlStrRef>
          </c:cat>
          <c:val>
            <c:numRef>
              <c:f>Sheet1!$B$2:$B$4</c:f>
              <c:numCache>
                <c:formatCode>General</c:formatCode>
                <c:ptCount val="3"/>
                <c:pt idx="0">
                  <c:v>4</c:v>
                </c:pt>
                <c:pt idx="1">
                  <c:v>1</c:v>
                </c:pt>
                <c:pt idx="2">
                  <c:v>1</c:v>
                </c:pt>
              </c:numCache>
            </c:numRef>
          </c:val>
        </c:ser>
        <c:ser>
          <c:idx val="1"/>
          <c:order val="1"/>
          <c:tx>
            <c:strRef>
              <c:f>Sheet1!$C$1</c:f>
              <c:strCache>
                <c:ptCount val="1"/>
                <c:pt idx="0">
                  <c:v>In progress (delayed)</c:v>
                </c:pt>
              </c:strCache>
            </c:strRef>
          </c:tx>
          <c:spPr>
            <a:solidFill>
              <a:srgbClr val="F28C28"/>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July</c:v>
                  </c:pt>
                  <c:pt idx="1">
                    <c:v>August</c:v>
                  </c:pt>
                  <c:pt idx="2">
                    <c:v>September</c:v>
                  </c:pt>
                </c:lvl>
              </c:multiLvlStrCache>
            </c:multiLvlStrRef>
          </c:cat>
          <c:val>
            <c:numRef>
              <c:f>Sheet1!$C$2:$C$4</c:f>
              <c:numCache>
                <c:formatCode>General</c:formatCode>
                <c:ptCount val="3"/>
                <c:pt idx="0">
                  <c:v>0</c:v>
                </c:pt>
                <c:pt idx="1">
                  <c:v>2</c:v>
                </c:pt>
                <c:pt idx="2">
                  <c:v>0</c:v>
                </c:pt>
              </c:numCache>
            </c:numRef>
          </c:val>
        </c:ser>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5A54"/>
                </a:solidFill>
                <a:latin typeface="+mn-lt"/>
              </a:defRPr>
            </a:pPr>
            <a:endParaRPr lang="en-US"/>
          </a:p>
        </c:txPr>
        <c:crossAx val="2094734552"/>
        <c:crosses val="autoZero"/>
        <c:auto val="1"/>
        <c:lblAlgn val="ctr"/>
        <c:noMultiLvlLbl val="1"/>
      </c:catAx>
      <c:valAx>
        <c:axId val="2094734552"/>
        <c:scaling>
          <c:orientation val="minMax"/>
          <c:max val="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F5A5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1F1F"/>
                </a:solidFill>
                <a:latin typeface="+mn-lt"/>
              </a:defRPr>
            </a:pPr>
            <a:r>
              <a:rPr sz="1300" b="0" i="0" u="none" strike="noStrike">
                <a:solidFill>
                  <a:srgbClr val="1F1F1F"/>
                </a:solidFill>
                <a:latin typeface="+mn-lt"/>
              </a:rPr>
              <a:t>Units delivered in JAS, by person and type</a:t>
            </a:r>
          </a:p>
        </c:rich>
      </c:tx>
      <c:layout/>
      <c:overlay val="0"/>
    </c:title>
    <c:autoTitleDeleted val="0"/>
    <c:plotArea>
      <c:layout/>
      <c:barChart>
        <c:barDir val="bar"/>
        <c:grouping val="stacked"/>
        <c:varyColors val="0"/>
        <c:ser>
          <c:idx val="0"/>
          <c:order val="0"/>
          <c:tx>
            <c:strRef>
              <c:f>Sheet1!$B$1</c:f>
              <c:strCache>
                <c:ptCount val="1"/>
                <c:pt idx="0">
                  <c:v>Master creatives</c:v>
                </c:pt>
              </c:strCache>
            </c:strRef>
          </c:tx>
          <c:spPr>
            <a:solidFill>
              <a:srgbClr val="2E7D4F"/>
            </a:solidFill>
            <a:effectLst/>
          </c:spPr>
          <c:invertIfNegative val="0"/>
          <c:dLbls>
            <c:numFmt formatCode="#,##0" sourceLinked="0"/>
            <c:txPr>
              <a:bodyPr/>
              <a:lstStyle/>
              <a:p>
                <a:pPr>
                  <a:defRPr b="0" i="0" strike="noStrike" sz="1100" u="none">
                    <a:solidFill>
                      <a:srgbClr val="1F1F1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Ezhumalai</c:v>
                  </c:pt>
                  <c:pt idx="1">
                    <c:v>Gowtham</c:v>
                  </c:pt>
                  <c:pt idx="2">
                    <c:v>Keerthana</c:v>
                  </c:pt>
                  <c:pt idx="3">
                    <c:v>Naresh</c:v>
                  </c:pt>
                </c:lvl>
              </c:multiLvlStrCache>
            </c:multiLvlStrRef>
          </c:cat>
          <c:val>
            <c:numRef>
              <c:f>Sheet1!$B$2:$B$5</c:f>
              <c:numCache>
                <c:formatCode>General</c:formatCode>
                <c:ptCount val="4"/>
                <c:pt idx="0">
                  <c:v>5</c:v>
                </c:pt>
                <c:pt idx="1">
                  <c:v>70</c:v>
                </c:pt>
                <c:pt idx="2">
                  <c:v>6</c:v>
                </c:pt>
                <c:pt idx="3">
                  <c:v>23</c:v>
                </c:pt>
              </c:numCache>
            </c:numRef>
          </c:val>
        </c:ser>
        <c:ser>
          <c:idx val="1"/>
          <c:order val="1"/>
          <c:tx>
            <c:strRef>
              <c:f>Sheet1!$C$1</c:f>
              <c:strCache>
                <c:ptCount val="1"/>
                <c:pt idx="0">
                  <c:v>Creatives</c:v>
                </c:pt>
              </c:strCache>
            </c:strRef>
          </c:tx>
          <c:spPr>
            <a:solidFill>
              <a:srgbClr val="F28C28"/>
            </a:solidFill>
            <a:effectLst/>
          </c:spPr>
          <c:invertIfNegative val="0"/>
          <c:dLbls>
            <c:numFmt formatCode="#,##0" sourceLinked="0"/>
            <c:txPr>
              <a:bodyPr/>
              <a:lstStyle/>
              <a:p>
                <a:pPr>
                  <a:defRPr b="0" i="0" strike="noStrike" sz="1100" u="none">
                    <a:solidFill>
                      <a:srgbClr val="1F1F1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Ezhumalai</c:v>
                  </c:pt>
                  <c:pt idx="1">
                    <c:v>Gowtham</c:v>
                  </c:pt>
                  <c:pt idx="2">
                    <c:v>Keerthana</c:v>
                  </c:pt>
                  <c:pt idx="3">
                    <c:v>Naresh</c:v>
                  </c:pt>
                </c:lvl>
              </c:multiLvlStrCache>
            </c:multiLvlStrRef>
          </c:cat>
          <c:val>
            <c:numRef>
              <c:f>Sheet1!$C$2:$C$5</c:f>
              <c:numCache>
                <c:formatCode>General</c:formatCode>
                <c:ptCount val="4"/>
                <c:pt idx="0">
                  <c:v>101</c:v>
                </c:pt>
                <c:pt idx="1">
                  <c:v>118</c:v>
                </c:pt>
                <c:pt idx="2">
                  <c:v>91</c:v>
                </c:pt>
                <c:pt idx="3">
                  <c:v>199</c:v>
                </c:pt>
              </c:numCache>
            </c:numRef>
          </c:val>
        </c:ser>
        <c:ser>
          <c:idx val="2"/>
          <c:order val="2"/>
          <c:tx>
            <c:strRef>
              <c:f>Sheet1!$D$1</c:f>
              <c:strCache>
                <c:ptCount val="1"/>
                <c:pt idx="0">
                  <c:v>Adaptations</c:v>
                </c:pt>
              </c:strCache>
            </c:strRef>
          </c:tx>
          <c:spPr>
            <a:solidFill>
              <a:srgbClr val="F6B93B"/>
            </a:solidFill>
            <a:effectLst/>
          </c:spPr>
          <c:invertIfNegative val="0"/>
          <c:dLbls>
            <c:numFmt formatCode="#,##0" sourceLinked="0"/>
            <c:txPr>
              <a:bodyPr/>
              <a:lstStyle/>
              <a:p>
                <a:pPr>
                  <a:defRPr b="0" i="0" strike="noStrike" sz="1100" u="none">
                    <a:solidFill>
                      <a:srgbClr val="1F1F1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Ezhumalai</c:v>
                  </c:pt>
                  <c:pt idx="1">
                    <c:v>Gowtham</c:v>
                  </c:pt>
                  <c:pt idx="2">
                    <c:v>Keerthana</c:v>
                  </c:pt>
                  <c:pt idx="3">
                    <c:v>Naresh</c:v>
                  </c:pt>
                </c:lvl>
              </c:multiLvlStrCache>
            </c:multiLvlStrRef>
          </c:cat>
          <c:val>
            <c:numRef>
              <c:f>Sheet1!$D$2:$D$5</c:f>
              <c:numCache>
                <c:formatCode>General</c:formatCode>
                <c:ptCount val="4"/>
                <c:pt idx="0">
                  <c:v>93</c:v>
                </c:pt>
                <c:pt idx="1">
                  <c:v>11</c:v>
                </c:pt>
                <c:pt idx="2">
                  <c:v>302</c:v>
                </c:pt>
                <c:pt idx="3">
                  <c:v>90</c:v>
                </c:pt>
              </c:numCache>
            </c:numRef>
          </c:val>
        </c:ser>
        <c:dLbls>
          <c:numFmt formatCode="#,##0" sourceLinked="0"/>
          <c:txPr>
            <a:bodyPr/>
            <a:lstStyle/>
            <a:p>
              <a:pPr>
                <a:defRPr b="0" i="0" strike="noStrike" sz="1100" u="none">
                  <a:solidFill>
                    <a:srgbClr val="1F1F1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F5A54"/>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F5A5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1F1F"/>
                </a:solidFill>
                <a:latin typeface="+mn-lt"/>
              </a:defRPr>
            </a:pPr>
            <a:r>
              <a:rPr sz="1300" b="0" i="0" u="none" strike="noStrike">
                <a:solidFill>
                  <a:srgbClr val="1F1F1F"/>
                </a:solidFill>
                <a:latin typeface="+mn-lt"/>
              </a:rPr>
              <a:t>Total units (masters + creatives + adaptations) by client, JAS 2026</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F28C28"/>
            </a:solidFill>
            <a:effectLst/>
          </c:spPr>
          <c:invertIfNegative val="0"/>
          <c:dLbls>
            <c:numFmt formatCode="#,##0" sourceLinked="0"/>
            <c:txPr>
              <a:bodyPr/>
              <a:lstStyle/>
              <a:p>
                <a:pPr>
                  <a:defRPr b="0" i="0" strike="noStrike" sz="1100" u="none">
                    <a:solidFill>
                      <a:srgbClr val="1F1F1F"/>
                    </a:solidFill>
                    <a:latin typeface="+mn-lt"/>
                  </a:defRPr>
                </a:pPr>
              </a:p>
            </c:txPr>
            <c:showLegendKey val="0"/>
            <c:showVal val="1"/>
            <c:showCatName val="0"/>
            <c:showSerName val="0"/>
            <c:showPercent val="0"/>
            <c:showBubbleSize val="0"/>
            <c:showLeaderLines val="0"/>
          </c:dLbls>
          <c:cat>
            <c:multiLvlStrRef>
              <c:f>Sheet1!$A$2:$A$12</c:f>
              <c:multiLvlStrCache>
                <c:ptCount val="11"/>
                <c:lvl>
                  <c:pt idx="0">
                    <c:v>TMB Bank</c:v>
                  </c:pt>
                  <c:pt idx="1">
                    <c:v>Star Health</c:v>
                  </c:pt>
                  <c:pt idx="2">
                    <c:v>VGN Homes</c:v>
                  </c:pt>
                  <c:pt idx="3">
                    <c:v>TVS Credit</c:v>
                  </c:pt>
                  <c:pt idx="4">
                    <c:v>SIP Academy</c:v>
                  </c:pt>
                  <c:pt idx="5">
                    <c:v>Maxivision</c:v>
                  </c:pt>
                  <c:pt idx="6">
                    <c:v>Wewin</c:v>
                  </c:pt>
                  <c:pt idx="7">
                    <c:v>Teamware</c:v>
                  </c:pt>
                  <c:pt idx="8">
                    <c:v>Pixel</c:v>
                  </c:pt>
                  <c:pt idx="9">
                    <c:v>Grocers</c:v>
                  </c:pt>
                  <c:pt idx="10">
                    <c:v>12 others</c:v>
                  </c:pt>
                </c:lvl>
              </c:multiLvlStrCache>
            </c:multiLvlStrRef>
          </c:cat>
          <c:val>
            <c:numRef>
              <c:f>Sheet1!$B$2:$B$12</c:f>
              <c:numCache>
                <c:formatCode>General</c:formatCode>
                <c:ptCount val="11"/>
                <c:pt idx="0">
                  <c:v>491</c:v>
                </c:pt>
                <c:pt idx="1">
                  <c:v>175</c:v>
                </c:pt>
                <c:pt idx="2">
                  <c:v>131</c:v>
                </c:pt>
                <c:pt idx="3">
                  <c:v>58</c:v>
                </c:pt>
                <c:pt idx="4">
                  <c:v>42</c:v>
                </c:pt>
                <c:pt idx="5">
                  <c:v>41</c:v>
                </c:pt>
                <c:pt idx="6">
                  <c:v>27</c:v>
                </c:pt>
                <c:pt idx="7">
                  <c:v>22</c:v>
                </c:pt>
                <c:pt idx="8">
                  <c:v>16</c:v>
                </c:pt>
                <c:pt idx="9">
                  <c:v>15</c:v>
                </c:pt>
                <c:pt idx="10">
                  <c:v>91</c:v>
                </c:pt>
              </c:numCache>
            </c:numRef>
          </c:val>
        </c:ser>
        <c:dLbls>
          <c:numFmt formatCode="#,##0" sourceLinked="0"/>
          <c:txPr>
            <a:bodyPr/>
            <a:lstStyle/>
            <a:p>
              <a:pPr>
                <a:defRPr b="0" i="0" strike="noStrike" sz="11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F5A54"/>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(15 sec): 'In the next 10 minutes: what the branding team delivered in July to September, how we score against our KPIs, and what we're committing to for Oct to Dec.'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Lead with the headline KPI score (fill the orange box). Then: 1,109 creatives, 104 of them new concepts. 81% of output (899 units) went to the 6 retainers: TMB, Star Health, VGN, TVS Credit, Maxivision, Athmalaya. Name the watch-outs yourself before anyone else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Leadership saw the Feb roadmap ('Scaling the Right Way'), so they will judge JAS against it. Say it before they do. Volume: the Feb deck said 200–250/month and 'close to optimal capacity'; JAS ran at ~370/month with the same 4 people. If the resource ask is still pending, that is your argument for it. KIMS was a Type 2 retainer in Feb and is not in the current retainer list, so confirm whether it was lost and be ready to say why. Annual reports / white papers had no movement: say whether it's parked or planned for 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This is the story to land. 'This was promised last quarter. We carried it over and delivered it this quarter.' Show the stills or clip. CHECK BEFORE PRESENTING: the project tracker still lists TVS Green 'TVC Commercial Ads - 3' as Oct / In-progress. Update the tracker to Completed or someone will catch the mismatch.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Projects by start month, from the project tracker. July: SBJH Founders Day, VKS Builders, SIP Academy 23-yr, Wewin Coimbatore (all done). August: JMI done; Checkpoint Diagnostic and Xylemx still in progress. September: Wewin Bangalore done. Fill the creatives table from a month-filtered pivot.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KPI method = projection vs. actually done. On-time: 8 projects in JAS, 6 on time; Checkpoint Diagnostic and Xylemx slipped. Design &amp; Creatives: planned = retainer scope (561 units), done = 841. Upsell, Project Retention and CSAT are deliberately left off this slide. Be ready if asked: 'We start tracking them from OND with a defined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Scope comes from the retainer tracker × 3 months. Delivered = JAS creative pivot by client. Present ONE of the two % columns once the definition is agreed, and delete the other. Athmalaya at 3 of 6 posts is a real shortfall either way. Have the reason ready. Star Health's scope says '70 creative units = 35–40 creatives', so confirm how a unit is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Totals: Ezhumalai 199, Gowtham 199, Keerthana 399, Naresh 312. Don't rank people by raw volume: a master creative is not equal to an adaptation. If asked for a ranking, use a weighting agreed with leadership beforehand. Key-person risk: name the OND mitigation (e.g., a second designer pairs on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 6 of 8 projects closed. Checkpoint Diagnostic and Xylemx started in August and are still open at the end of October. Give the reason and the new close date, not an apology. The pitch work (Apollo, DBS) used real concept capacity. Say whether it converted.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 October is almost over, so the Oct column should be actuals, not a plan. Give each AI target a number and an owner. If there's an ask (tools budget, a hire, a decision on billing TMB's over-scope work), say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OND commitments. Supporting data is in the appendix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12 others: Checkpoint 10, Skylink 13, JMI 12, SBJH 12, TVS Green 12, Rakki 8, DBS pitch 8, VKS 7, Xylemx 4, Athmalaya 3, Care AKPS 1, Apollo pitch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the agenda item 'Documentation &amp; supporting metrics'. Keep the links ready on the laptop in case someone asks to see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accent1"/>
        </a:solidFill>
      </p:bgPr>
    </p:bg>
    <p:spTree>
      <p:nvGrpSpPr>
        <p:cNvPr id="1" name=""/>
        <p:cNvGrpSpPr/>
        <p:nvPr/>
      </p:nvGrpSpPr>
      <p:grpSpPr>
        <a:xfrm>
          <a:off x="0" y="0"/>
          <a:ext cx="0" cy="0"/>
          <a:chOff x="0" y="0"/>
          <a:chExt cx="0" cy="0"/>
        </a:xfrm>
      </p:grpSpPr>
      <p:sp>
        <p:nvSpPr>
          <p:cNvPr id="2" name="Shape 0"/>
          <p:cNvSpPr/>
          <p:nvPr/>
        </p:nvSpPr>
        <p:spPr>
          <a:xfrm>
            <a:off x="365760" y="320040"/>
            <a:ext cx="11457432" cy="6217920"/>
          </a:xfrm>
          <a:prstGeom prst="rect">
            <a:avLst/>
          </a:prstGeom>
          <a:solidFill>
            <a:schemeClr val="bg2"/>
          </a:solidFill>
          <a:ln w="12700">
            <a:solidFill>
              <a:schemeClr val="bg2"/>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Branding Team  ·  JAS 2026 Review &amp; OND Plan</a:t>
            </a:r>
            <a:endParaRPr lang="en-US" sz="10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914400" y="1005840"/>
            <a:ext cx="5486400" cy="411480"/>
          </a:xfrm>
          <a:prstGeom prst="rect">
            <a:avLst/>
          </a:prstGeom>
          <a:noFill/>
          <a:ln/>
        </p:spPr>
        <p:txBody>
          <a:bodyPr wrap="square" lIns="0" tIns="0" rIns="0" bIns="0" rtlCol="0" anchor="ctr"/>
          <a:lstStyle/>
          <a:p>
            <a:pPr indent="0" marL="0">
              <a:buNone/>
            </a:pPr>
            <a:r>
              <a:rPr lang="en-US" sz="2000" b="1" dirty="0">
                <a:solidFill>
                  <a:schemeClr val="tx1"/>
                </a:solidFill>
              </a:rPr>
              <a:t>Branding Team</a:t>
            </a:r>
            <a:endParaRPr lang="en-US" sz="2000" dirty="0"/>
          </a:p>
        </p:txBody>
      </p:sp>
      <p:sp>
        <p:nvSpPr>
          <p:cNvPr id="3" name="Text 1"/>
          <p:cNvSpPr txBox="1"/>
          <p:nvPr/>
        </p:nvSpPr>
        <p:spPr>
          <a:xfrm>
            <a:off x="914400" y="1508760"/>
            <a:ext cx="6400800" cy="2103120"/>
          </a:xfrm>
          <a:prstGeom prst="rect">
            <a:avLst/>
          </a:prstGeom>
          <a:noFill/>
          <a:ln/>
        </p:spPr>
        <p:txBody>
          <a:bodyPr wrap="square" lIns="0" tIns="0" rIns="0" bIns="0" rtlCol="0" anchor="t"/>
          <a:lstStyle/>
          <a:p>
            <a:pPr indent="0" marL="0">
              <a:buNone/>
            </a:pPr>
            <a:r>
              <a:rPr lang="en-US" sz="5400" b="1" dirty="0">
                <a:solidFill>
                  <a:schemeClr val="tx1"/>
                </a:solidFill>
              </a:rPr>
              <a:t>JAS 2026 Review</a:t>
            </a:r>
            <a:endParaRPr lang="en-US" sz="5400" dirty="0"/>
          </a:p>
          <a:p>
            <a:pPr indent="0" marL="0">
              <a:buNone/>
            </a:pPr>
            <a:r>
              <a:rPr lang="en-US" sz="5400" b="1" dirty="0">
                <a:solidFill>
                  <a:schemeClr val="tx1"/>
                </a:solidFill>
              </a:rPr>
              <a:t>&amp; OND Plan</a:t>
            </a:r>
            <a:endParaRPr lang="en-US" sz="5400" dirty="0"/>
          </a:p>
        </p:txBody>
      </p:sp>
      <p:sp>
        <p:nvSpPr>
          <p:cNvPr id="4" name="Text 2"/>
          <p:cNvSpPr txBox="1"/>
          <p:nvPr/>
        </p:nvSpPr>
        <p:spPr>
          <a:xfrm>
            <a:off x="914400" y="3703320"/>
            <a:ext cx="6035040" cy="822960"/>
          </a:xfrm>
          <a:prstGeom prst="rect">
            <a:avLst/>
          </a:prstGeom>
          <a:noFill/>
          <a:ln/>
        </p:spPr>
        <p:txBody>
          <a:bodyPr wrap="square" lIns="0" tIns="0" rIns="0" bIns="0" rtlCol="0" anchor="ctr"/>
          <a:lstStyle/>
          <a:p>
            <a:pPr indent="0" marL="0">
              <a:buNone/>
            </a:pPr>
            <a:r>
              <a:rPr lang="en-US" sz="1800" dirty="0">
                <a:solidFill>
                  <a:schemeClr val="accent5"/>
                </a:solidFill>
              </a:rPr>
              <a:t>What we delivered in July – September, and what we commit to for October – December</a:t>
            </a:r>
            <a:endParaRPr lang="en-US" sz="1800" dirty="0"/>
          </a:p>
        </p:txBody>
      </p:sp>
      <p:sp>
        <p:nvSpPr>
          <p:cNvPr id="5" name="Presenter pill"/>
          <p:cNvSpPr/>
          <p:nvPr/>
        </p:nvSpPr>
        <p:spPr>
          <a:xfrm>
            <a:off x="914400" y="4754880"/>
            <a:ext cx="3566160" cy="502920"/>
          </a:xfrm>
          <a:prstGeom prst="roundRect">
            <a:avLst>
              <a:gd name="adj" fmla="val 49091"/>
            </a:avLst>
          </a:prstGeom>
          <a:solidFill>
            <a:schemeClr val="tx2"/>
          </a:solidFill>
          <a:ln w="12700">
            <a:solidFill>
              <a:schemeClr val="tx2"/>
            </a:solidFill>
            <a:prstDash val="solid"/>
          </a:ln>
        </p:spPr>
      </p:sp>
      <p:sp>
        <p:nvSpPr>
          <p:cNvPr id="6" name="Text 4"/>
          <p:cNvSpPr txBox="1"/>
          <p:nvPr/>
        </p:nvSpPr>
        <p:spPr>
          <a:xfrm>
            <a:off x="914400" y="4754880"/>
            <a:ext cx="3566160" cy="502920"/>
          </a:xfrm>
          <a:prstGeom prst="rect">
            <a:avLst/>
          </a:prstGeom>
          <a:noFill/>
          <a:ln/>
        </p:spPr>
        <p:txBody>
          <a:bodyPr wrap="square" lIns="0" tIns="0" rIns="0" bIns="0" rtlCol="0" anchor="ctr"/>
          <a:lstStyle/>
          <a:p>
            <a:pPr algn="ctr" indent="0" marL="0">
              <a:buNone/>
            </a:pPr>
            <a:r>
              <a:rPr lang="en-US" sz="1500" b="1" dirty="0">
                <a:solidFill>
                  <a:schemeClr val="bg1"/>
                </a:solidFill>
              </a:rPr>
              <a:t>Presented by [Presenter name]</a:t>
            </a:r>
            <a:endParaRPr lang="en-US" sz="1500" dirty="0"/>
          </a:p>
        </p:txBody>
      </p:sp>
      <p:sp>
        <p:nvSpPr>
          <p:cNvPr id="7" name="Text 5"/>
          <p:cNvSpPr txBox="1"/>
          <p:nvPr/>
        </p:nvSpPr>
        <p:spPr>
          <a:xfrm>
            <a:off x="914400" y="5440680"/>
            <a:ext cx="4572000" cy="320040"/>
          </a:xfrm>
          <a:prstGeom prst="rect">
            <a:avLst/>
          </a:prstGeom>
          <a:noFill/>
          <a:ln/>
        </p:spPr>
        <p:txBody>
          <a:bodyPr wrap="square" lIns="0" tIns="0" rIns="0" bIns="0" rtlCol="0" anchor="ctr"/>
          <a:lstStyle/>
          <a:p>
            <a:pPr indent="0" marL="0">
              <a:buNone/>
            </a:pPr>
            <a:r>
              <a:rPr lang="en-US" sz="1400" dirty="0">
                <a:solidFill>
                  <a:schemeClr val="accent5"/>
                </a:solidFill>
              </a:rPr>
              <a:t>30 Oct 2026  ·  Blue Iris</a:t>
            </a:r>
            <a:endParaRPr lang="en-US" sz="1400" dirty="0"/>
          </a:p>
        </p:txBody>
      </p:sp>
      <p:sp>
        <p:nvSpPr>
          <p:cNvPr id="8" name="Hero stat card"/>
          <p:cNvSpPr/>
          <p:nvPr/>
        </p:nvSpPr>
        <p:spPr>
          <a:xfrm>
            <a:off x="7498080" y="1097280"/>
            <a:ext cx="3749040" cy="2331720"/>
          </a:xfrm>
          <a:prstGeom prst="roundRect">
            <a:avLst>
              <a:gd name="adj" fmla="val 4706"/>
            </a:avLst>
          </a:prstGeom>
          <a:solidFill>
            <a:schemeClr val="bg1"/>
          </a:solidFill>
          <a:ln w="38100">
            <a:solidFill>
              <a:schemeClr val="accent1"/>
            </a:solidFill>
            <a:prstDash val="solid"/>
          </a:ln>
          <a:effectLst>
            <a:outerShdw sx="100000" sy="100000" kx="0" ky="0" algn="bl" rotWithShape="0" blurRad="76200" dist="38100" dir="5400000">
              <a:srgbClr val="000000">
                <a:alpha val="12000"/>
              </a:srgbClr>
            </a:outerShdw>
          </a:effectLst>
        </p:spPr>
      </p:sp>
      <p:sp>
        <p:nvSpPr>
          <p:cNvPr id="9" name="Window dot"/>
          <p:cNvSpPr/>
          <p:nvPr/>
        </p:nvSpPr>
        <p:spPr>
          <a:xfrm>
            <a:off x="10378440" y="1234440"/>
            <a:ext cx="128016" cy="128016"/>
          </a:xfrm>
          <a:prstGeom prst="ellipse">
            <a:avLst/>
          </a:prstGeom>
          <a:solidFill>
            <a:schemeClr val="tx2"/>
          </a:solidFill>
          <a:ln w="12700">
            <a:solidFill>
              <a:schemeClr val="tx2"/>
            </a:solidFill>
            <a:prstDash val="solid"/>
          </a:ln>
        </p:spPr>
      </p:sp>
      <p:sp>
        <p:nvSpPr>
          <p:cNvPr id="10" name="Window dot"/>
          <p:cNvSpPr/>
          <p:nvPr/>
        </p:nvSpPr>
        <p:spPr>
          <a:xfrm>
            <a:off x="10607040" y="1234440"/>
            <a:ext cx="128016" cy="128016"/>
          </a:xfrm>
          <a:prstGeom prst="ellipse">
            <a:avLst/>
          </a:prstGeom>
          <a:solidFill>
            <a:schemeClr val="accent4"/>
          </a:solidFill>
          <a:ln w="12700">
            <a:solidFill>
              <a:schemeClr val="accent4"/>
            </a:solidFill>
            <a:prstDash val="solid"/>
          </a:ln>
        </p:spPr>
      </p:sp>
      <p:sp>
        <p:nvSpPr>
          <p:cNvPr id="11" name="Window dot"/>
          <p:cNvSpPr/>
          <p:nvPr/>
        </p:nvSpPr>
        <p:spPr>
          <a:xfrm>
            <a:off x="10835640" y="1234440"/>
            <a:ext cx="128016" cy="128016"/>
          </a:xfrm>
          <a:prstGeom prst="ellipse">
            <a:avLst/>
          </a:prstGeom>
          <a:solidFill>
            <a:schemeClr val="accent3"/>
          </a:solidFill>
          <a:ln w="12700">
            <a:solidFill>
              <a:schemeClr val="accent3"/>
            </a:solidFill>
            <a:prstDash val="solid"/>
          </a:ln>
        </p:spPr>
      </p:sp>
      <p:sp>
        <p:nvSpPr>
          <p:cNvPr id="12" name="Text 10"/>
          <p:cNvSpPr txBox="1"/>
          <p:nvPr/>
        </p:nvSpPr>
        <p:spPr>
          <a:xfrm>
            <a:off x="7772400" y="1463040"/>
            <a:ext cx="3291840" cy="1005840"/>
          </a:xfrm>
          <a:prstGeom prst="rect">
            <a:avLst/>
          </a:prstGeom>
          <a:noFill/>
          <a:ln/>
        </p:spPr>
        <p:txBody>
          <a:bodyPr wrap="square" lIns="0" tIns="0" rIns="0" bIns="0" rtlCol="0" anchor="ctr"/>
          <a:lstStyle/>
          <a:p>
            <a:pPr indent="0" marL="0">
              <a:buNone/>
            </a:pPr>
            <a:r>
              <a:rPr lang="en-US" sz="6000" b="1" dirty="0">
                <a:solidFill>
                  <a:schemeClr val="accent1"/>
                </a:solidFill>
              </a:rPr>
              <a:t>1,109</a:t>
            </a:r>
            <a:endParaRPr lang="en-US" sz="6000" dirty="0"/>
          </a:p>
        </p:txBody>
      </p:sp>
      <p:sp>
        <p:nvSpPr>
          <p:cNvPr id="13" name="Text 11"/>
          <p:cNvSpPr txBox="1"/>
          <p:nvPr/>
        </p:nvSpPr>
        <p:spPr>
          <a:xfrm>
            <a:off x="7772400" y="2514600"/>
            <a:ext cx="3291840" cy="457200"/>
          </a:xfrm>
          <a:prstGeom prst="rect">
            <a:avLst/>
          </a:prstGeom>
          <a:noFill/>
          <a:ln/>
        </p:spPr>
        <p:txBody>
          <a:bodyPr wrap="square" lIns="0" tIns="0" rIns="0" bIns="0" rtlCol="0" anchor="ctr"/>
          <a:lstStyle/>
          <a:p>
            <a:pPr indent="0" marL="0">
              <a:buNone/>
            </a:pPr>
            <a:r>
              <a:rPr lang="en-US" sz="1800" dirty="0">
                <a:solidFill>
                  <a:schemeClr val="tx1"/>
                </a:solidFill>
              </a:rPr>
              <a:t>creatives delivered in JAS</a:t>
            </a:r>
            <a:endParaRPr lang="en-US" sz="1800" dirty="0"/>
          </a:p>
        </p:txBody>
      </p:sp>
      <p:sp>
        <p:nvSpPr>
          <p:cNvPr id="14" name="Secondary stat card"/>
          <p:cNvSpPr/>
          <p:nvPr/>
        </p:nvSpPr>
        <p:spPr>
          <a:xfrm>
            <a:off x="7955280" y="3794760"/>
            <a:ext cx="3291840" cy="1691640"/>
          </a:xfrm>
          <a:prstGeom prst="roundRect">
            <a:avLst>
              <a:gd name="adj" fmla="val 6486"/>
            </a:avLst>
          </a:prstGeom>
          <a:solidFill>
            <a:schemeClr val="bg1"/>
          </a:solidFill>
          <a:ln w="38100">
            <a:solidFill>
              <a:schemeClr val="tx2"/>
            </a:solidFill>
            <a:prstDash val="solid"/>
          </a:ln>
          <a:effectLst>
            <a:outerShdw sx="100000" sy="100000" kx="0" ky="0" algn="bl" rotWithShape="0" blurRad="76200" dist="38100" dir="5400000">
              <a:srgbClr val="000000">
                <a:alpha val="12000"/>
              </a:srgbClr>
            </a:outerShdw>
          </a:effectLst>
        </p:spPr>
      </p:sp>
      <p:sp>
        <p:nvSpPr>
          <p:cNvPr id="15" name="Window dot"/>
          <p:cNvSpPr/>
          <p:nvPr/>
        </p:nvSpPr>
        <p:spPr>
          <a:xfrm>
            <a:off x="10378440" y="3931920"/>
            <a:ext cx="128016" cy="128016"/>
          </a:xfrm>
          <a:prstGeom prst="ellipse">
            <a:avLst/>
          </a:prstGeom>
          <a:solidFill>
            <a:schemeClr val="tx2"/>
          </a:solidFill>
          <a:ln w="12700">
            <a:solidFill>
              <a:schemeClr val="tx2"/>
            </a:solidFill>
            <a:prstDash val="solid"/>
          </a:ln>
        </p:spPr>
      </p:sp>
      <p:sp>
        <p:nvSpPr>
          <p:cNvPr id="16" name="Window dot"/>
          <p:cNvSpPr/>
          <p:nvPr/>
        </p:nvSpPr>
        <p:spPr>
          <a:xfrm>
            <a:off x="10607040" y="3931920"/>
            <a:ext cx="128016" cy="128016"/>
          </a:xfrm>
          <a:prstGeom prst="ellipse">
            <a:avLst/>
          </a:prstGeom>
          <a:solidFill>
            <a:schemeClr val="accent4"/>
          </a:solidFill>
          <a:ln w="12700">
            <a:solidFill>
              <a:schemeClr val="accent4"/>
            </a:solidFill>
            <a:prstDash val="solid"/>
          </a:ln>
        </p:spPr>
      </p:sp>
      <p:sp>
        <p:nvSpPr>
          <p:cNvPr id="17" name="Window dot"/>
          <p:cNvSpPr/>
          <p:nvPr/>
        </p:nvSpPr>
        <p:spPr>
          <a:xfrm>
            <a:off x="10835640" y="3931920"/>
            <a:ext cx="128016" cy="128016"/>
          </a:xfrm>
          <a:prstGeom prst="ellipse">
            <a:avLst/>
          </a:prstGeom>
          <a:solidFill>
            <a:schemeClr val="accent3"/>
          </a:solidFill>
          <a:ln w="12700">
            <a:solidFill>
              <a:schemeClr val="accent3"/>
            </a:solidFill>
            <a:prstDash val="solid"/>
          </a:ln>
        </p:spPr>
      </p:sp>
      <p:sp>
        <p:nvSpPr>
          <p:cNvPr id="18" name="Text 16"/>
          <p:cNvSpPr txBox="1"/>
          <p:nvPr/>
        </p:nvSpPr>
        <p:spPr>
          <a:xfrm>
            <a:off x="8229600" y="4114800"/>
            <a:ext cx="2926080" cy="1234440"/>
          </a:xfrm>
          <a:prstGeom prst="rect">
            <a:avLst/>
          </a:prstGeom>
          <a:noFill/>
          <a:ln/>
        </p:spPr>
        <p:txBody>
          <a:bodyPr wrap="square" lIns="0" tIns="0" rIns="0" bIns="0" rtlCol="0" anchor="ctr"/>
          <a:lstStyle/>
          <a:p>
            <a:pPr indent="0" marL="0">
              <a:buNone/>
            </a:pPr>
            <a:r>
              <a:rPr lang="en-US" sz="3000" b="1" dirty="0">
                <a:solidFill>
                  <a:schemeClr val="tx2"/>
                </a:solidFill>
              </a:rPr>
              <a:t>6</a:t>
            </a:r>
            <a:pPr indent="0" marL="0">
              <a:buNone/>
            </a:pPr>
            <a:r>
              <a:rPr lang="en-US" sz="1600" dirty="0">
                <a:solidFill>
                  <a:schemeClr val="tx1"/>
                </a:solidFill>
              </a:rPr>
              <a:t>  live retainers</a:t>
            </a:r>
            <a:endParaRPr lang="en-US" sz="3000" dirty="0"/>
          </a:p>
          <a:p>
            <a:pPr indent="0" marL="0">
              <a:buNone/>
            </a:pPr>
            <a:r>
              <a:rPr lang="en-US" sz="3000" b="1" dirty="0">
                <a:solidFill>
                  <a:schemeClr val="tx2"/>
                </a:solidFill>
              </a:rPr>
              <a:t>8</a:t>
            </a:r>
            <a:pPr indent="0" marL="0">
              <a:buNone/>
            </a:pPr>
            <a:r>
              <a:rPr lang="en-US" sz="1600" dirty="0">
                <a:solidFill>
                  <a:schemeClr val="tx1"/>
                </a:solidFill>
              </a:rPr>
              <a:t>  projects in the quarter</a:t>
            </a:r>
            <a:endParaRPr lang="en-US" sz="3000" dirty="0"/>
          </a:p>
        </p:txBody>
      </p:sp>
      <p:pic>
        <p:nvPicPr>
          <p:cNvPr id="19" name="Image 0" descr="decorative squiggle">    </p:cNvPr>
          <p:cNvPicPr>
            <a:picLocks noChangeAspect="1"/>
          </p:cNvPicPr>
          <p:nvPr/>
        </p:nvPicPr>
        <p:blipFill>
          <a:blip r:embed="rId1"/>
          <a:stretch>
            <a:fillRect/>
          </a:stretch>
        </p:blipFill>
        <p:spPr>
          <a:xfrm>
            <a:off x="9966960" y="5577840"/>
            <a:ext cx="1463040" cy="97840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2800" b="1" dirty="0">
                <a:solidFill>
                  <a:schemeClr val="tx1"/>
                </a:solidFill>
              </a:rPr>
              <a:t>JAS at a glance: 1,109 creatives, 81% for retainers</a:t>
            </a:r>
            <a:endParaRPr lang="en-US" sz="2800" dirty="0"/>
          </a:p>
        </p:txBody>
      </p:sp>
      <p:sp>
        <p:nvSpPr>
          <p:cNvPr id="3" name="Stat card"/>
          <p:cNvSpPr/>
          <p:nvPr/>
        </p:nvSpPr>
        <p:spPr>
          <a:xfrm>
            <a:off x="548640" y="1371600"/>
            <a:ext cx="2560320" cy="2148840"/>
          </a:xfrm>
          <a:prstGeom prst="roundRect">
            <a:avLst>
              <a:gd name="adj" fmla="val 5106"/>
            </a:avLst>
          </a:prstGeom>
          <a:solidFill>
            <a:schemeClr val="bg1"/>
          </a:solidFill>
          <a:ln w="15875">
            <a:solidFill>
              <a:schemeClr val="tx1"/>
            </a:solidFill>
            <a:prstDash val="solid"/>
          </a:ln>
          <a:effectLst>
            <a:outerShdw sx="100000" sy="100000" kx="0" ky="0" algn="bl" rotWithShape="0" blurRad="76200" dist="38100" dir="5400000">
              <a:srgbClr val="000000">
                <a:alpha val="12000"/>
              </a:srgbClr>
            </a:outerShdw>
          </a:effectLst>
        </p:spPr>
      </p:sp>
      <p:sp>
        <p:nvSpPr>
          <p:cNvPr id="4" name="Window dot"/>
          <p:cNvSpPr/>
          <p:nvPr/>
        </p:nvSpPr>
        <p:spPr>
          <a:xfrm>
            <a:off x="2240280" y="1508760"/>
            <a:ext cx="128016" cy="128016"/>
          </a:xfrm>
          <a:prstGeom prst="ellipse">
            <a:avLst/>
          </a:prstGeom>
          <a:solidFill>
            <a:schemeClr val="tx2"/>
          </a:solidFill>
          <a:ln w="12700">
            <a:solidFill>
              <a:schemeClr val="tx2"/>
            </a:solidFill>
            <a:prstDash val="solid"/>
          </a:ln>
        </p:spPr>
      </p:sp>
      <p:sp>
        <p:nvSpPr>
          <p:cNvPr id="5" name="Window dot"/>
          <p:cNvSpPr/>
          <p:nvPr/>
        </p:nvSpPr>
        <p:spPr>
          <a:xfrm>
            <a:off x="2468880" y="1508760"/>
            <a:ext cx="128016" cy="128016"/>
          </a:xfrm>
          <a:prstGeom prst="ellipse">
            <a:avLst/>
          </a:prstGeom>
          <a:solidFill>
            <a:schemeClr val="accent4"/>
          </a:solidFill>
          <a:ln w="12700">
            <a:solidFill>
              <a:schemeClr val="accent4"/>
            </a:solidFill>
            <a:prstDash val="solid"/>
          </a:ln>
        </p:spPr>
      </p:sp>
      <p:sp>
        <p:nvSpPr>
          <p:cNvPr id="6" name="Window dot"/>
          <p:cNvSpPr/>
          <p:nvPr/>
        </p:nvSpPr>
        <p:spPr>
          <a:xfrm>
            <a:off x="2697480" y="1508760"/>
            <a:ext cx="128016" cy="128016"/>
          </a:xfrm>
          <a:prstGeom prst="ellipse">
            <a:avLst/>
          </a:prstGeom>
          <a:solidFill>
            <a:schemeClr val="accent3"/>
          </a:solidFill>
          <a:ln w="12700">
            <a:solidFill>
              <a:schemeClr val="accent3"/>
            </a:solidFill>
            <a:prstDash val="solid"/>
          </a:ln>
        </p:spPr>
      </p:sp>
      <p:sp>
        <p:nvSpPr>
          <p:cNvPr id="7" name="Icon circle"/>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mage 0" descr="icon">    </p:cNvPr>
          <p:cNvPicPr>
            <a:picLocks noChangeAspect="1"/>
          </p:cNvPicPr>
          <p:nvPr/>
        </p:nvPicPr>
        <p:blipFill>
          <a:blip r:embed="rId1"/>
          <a:stretch>
            <a:fillRect/>
          </a:stretch>
        </p:blipFill>
        <p:spPr>
          <a:xfrm>
            <a:off x="914400" y="1737360"/>
            <a:ext cx="274320" cy="274320"/>
          </a:xfrm>
          <a:prstGeom prst="rect">
            <a:avLst/>
          </a:prstGeom>
        </p:spPr>
      </p:pic>
      <p:sp>
        <p:nvSpPr>
          <p:cNvPr id="9" name="Text 6"/>
          <p:cNvSpPr txBox="1"/>
          <p:nvPr/>
        </p:nvSpPr>
        <p:spPr>
          <a:xfrm>
            <a:off x="777240" y="2240280"/>
            <a:ext cx="2194560" cy="685800"/>
          </a:xfrm>
          <a:prstGeom prst="rect">
            <a:avLst/>
          </a:prstGeom>
          <a:noFill/>
          <a:ln/>
        </p:spPr>
        <p:txBody>
          <a:bodyPr wrap="square" lIns="0" tIns="0" rIns="0" bIns="0" rtlCol="0" anchor="ctr"/>
          <a:lstStyle/>
          <a:p>
            <a:pPr indent="0" marL="0">
              <a:buNone/>
            </a:pPr>
            <a:r>
              <a:rPr lang="en-US" sz="4000" b="1" dirty="0">
                <a:solidFill>
                  <a:schemeClr val="accent1"/>
                </a:solidFill>
              </a:rPr>
              <a:t>1,109</a:t>
            </a:r>
            <a:endParaRPr lang="en-US" sz="4000" dirty="0"/>
          </a:p>
        </p:txBody>
      </p:sp>
      <p:sp>
        <p:nvSpPr>
          <p:cNvPr id="10" name="Text 7"/>
          <p:cNvSpPr txBox="1"/>
          <p:nvPr/>
        </p:nvSpPr>
        <p:spPr>
          <a:xfrm>
            <a:off x="777240" y="2880360"/>
            <a:ext cx="2194560" cy="548640"/>
          </a:xfrm>
          <a:prstGeom prst="rect">
            <a:avLst/>
          </a:prstGeom>
          <a:noFill/>
          <a:ln/>
        </p:spPr>
        <p:txBody>
          <a:bodyPr wrap="square" lIns="0" tIns="0" rIns="0" bIns="0" rtlCol="0" anchor="ctr"/>
          <a:lstStyle/>
          <a:p>
            <a:pPr indent="0" marL="0">
              <a:buNone/>
            </a:pPr>
            <a:r>
              <a:rPr lang="en-US" sz="1300" dirty="0">
                <a:solidFill>
                  <a:schemeClr val="accent5"/>
                </a:solidFill>
              </a:rPr>
              <a:t>creatives delivered</a:t>
            </a:r>
            <a:endParaRPr lang="en-US" sz="1300" dirty="0"/>
          </a:p>
          <a:p>
            <a:pPr indent="0" marL="0">
              <a:buNone/>
            </a:pPr>
            <a:r>
              <a:rPr lang="en-US" sz="1300" dirty="0">
                <a:solidFill>
                  <a:schemeClr val="accent5"/>
                </a:solidFill>
              </a:rPr>
              <a:t>(Jul – Sep)</a:t>
            </a:r>
            <a:endParaRPr lang="en-US" sz="1300" dirty="0"/>
          </a:p>
        </p:txBody>
      </p:sp>
      <p:sp>
        <p:nvSpPr>
          <p:cNvPr id="11" name="Stat card"/>
          <p:cNvSpPr/>
          <p:nvPr/>
        </p:nvSpPr>
        <p:spPr>
          <a:xfrm>
            <a:off x="3383280" y="1371600"/>
            <a:ext cx="2560320" cy="2148840"/>
          </a:xfrm>
          <a:prstGeom prst="roundRect">
            <a:avLst>
              <a:gd name="adj" fmla="val 5106"/>
            </a:avLst>
          </a:prstGeom>
          <a:solidFill>
            <a:schemeClr val="bg1"/>
          </a:solidFill>
          <a:ln w="15875">
            <a:solidFill>
              <a:schemeClr val="tx1"/>
            </a:solidFill>
            <a:prstDash val="solid"/>
          </a:ln>
          <a:effectLst>
            <a:outerShdw sx="100000" sy="100000" kx="0" ky="0" algn="bl" rotWithShape="0" blurRad="76200" dist="38100" dir="5400000">
              <a:srgbClr val="000000">
                <a:alpha val="12000"/>
              </a:srgbClr>
            </a:outerShdw>
          </a:effectLst>
        </p:spPr>
      </p:sp>
      <p:sp>
        <p:nvSpPr>
          <p:cNvPr id="12" name="Window dot"/>
          <p:cNvSpPr/>
          <p:nvPr/>
        </p:nvSpPr>
        <p:spPr>
          <a:xfrm>
            <a:off x="5074920" y="1508760"/>
            <a:ext cx="128016" cy="128016"/>
          </a:xfrm>
          <a:prstGeom prst="ellipse">
            <a:avLst/>
          </a:prstGeom>
          <a:solidFill>
            <a:schemeClr val="tx2"/>
          </a:solidFill>
          <a:ln w="12700">
            <a:solidFill>
              <a:schemeClr val="tx2"/>
            </a:solidFill>
            <a:prstDash val="solid"/>
          </a:ln>
        </p:spPr>
      </p:sp>
      <p:sp>
        <p:nvSpPr>
          <p:cNvPr id="13" name="Window dot"/>
          <p:cNvSpPr/>
          <p:nvPr/>
        </p:nvSpPr>
        <p:spPr>
          <a:xfrm>
            <a:off x="5303520" y="1508760"/>
            <a:ext cx="128016" cy="128016"/>
          </a:xfrm>
          <a:prstGeom prst="ellipse">
            <a:avLst/>
          </a:prstGeom>
          <a:solidFill>
            <a:schemeClr val="accent4"/>
          </a:solidFill>
          <a:ln w="12700">
            <a:solidFill>
              <a:schemeClr val="accent4"/>
            </a:solidFill>
            <a:prstDash val="solid"/>
          </a:ln>
        </p:spPr>
      </p:sp>
      <p:sp>
        <p:nvSpPr>
          <p:cNvPr id="14" name="Window dot"/>
          <p:cNvSpPr/>
          <p:nvPr/>
        </p:nvSpPr>
        <p:spPr>
          <a:xfrm>
            <a:off x="5532120" y="1508760"/>
            <a:ext cx="128016" cy="128016"/>
          </a:xfrm>
          <a:prstGeom prst="ellipse">
            <a:avLst/>
          </a:prstGeom>
          <a:solidFill>
            <a:schemeClr val="accent3"/>
          </a:solidFill>
          <a:ln w="12700">
            <a:solidFill>
              <a:schemeClr val="accent3"/>
            </a:solidFill>
            <a:prstDash val="solid"/>
          </a:ln>
        </p:spPr>
      </p:sp>
      <p:sp>
        <p:nvSpPr>
          <p:cNvPr id="15" name="Icon circle"/>
          <p:cNvSpPr/>
          <p:nvPr/>
        </p:nvSpPr>
        <p:spPr>
          <a:xfrm>
            <a:off x="3611880" y="1600200"/>
            <a:ext cx="548640" cy="548640"/>
          </a:xfrm>
          <a:prstGeom prst="ellipse">
            <a:avLst/>
          </a:prstGeom>
          <a:solidFill>
            <a:schemeClr val="tx2"/>
          </a:solidFill>
          <a:ln w="12700">
            <a:solidFill>
              <a:schemeClr val="tx2"/>
            </a:solidFill>
            <a:prstDash val="solid"/>
          </a:ln>
        </p:spPr>
      </p:sp>
      <p:pic>
        <p:nvPicPr>
          <p:cNvPr id="16" name="Image 1" descr="icon">    </p:cNvPr>
          <p:cNvPicPr>
            <a:picLocks noChangeAspect="1"/>
          </p:cNvPicPr>
          <p:nvPr/>
        </p:nvPicPr>
        <p:blipFill>
          <a:blip r:embed="rId2"/>
          <a:stretch>
            <a:fillRect/>
          </a:stretch>
        </p:blipFill>
        <p:spPr>
          <a:xfrm>
            <a:off x="3749040" y="1737360"/>
            <a:ext cx="274320" cy="274320"/>
          </a:xfrm>
          <a:prstGeom prst="rect">
            <a:avLst/>
          </a:prstGeom>
        </p:spPr>
      </p:pic>
      <p:sp>
        <p:nvSpPr>
          <p:cNvPr id="17" name="Text 13"/>
          <p:cNvSpPr txBox="1"/>
          <p:nvPr/>
        </p:nvSpPr>
        <p:spPr>
          <a:xfrm>
            <a:off x="3611880" y="2240280"/>
            <a:ext cx="2194560" cy="685800"/>
          </a:xfrm>
          <a:prstGeom prst="rect">
            <a:avLst/>
          </a:prstGeom>
          <a:noFill/>
          <a:ln/>
        </p:spPr>
        <p:txBody>
          <a:bodyPr wrap="square" lIns="0" tIns="0" rIns="0" bIns="0" rtlCol="0" anchor="ctr"/>
          <a:lstStyle/>
          <a:p>
            <a:pPr indent="0" marL="0">
              <a:buNone/>
            </a:pPr>
            <a:r>
              <a:rPr lang="en-US" sz="4000" b="1" dirty="0">
                <a:solidFill>
                  <a:schemeClr val="tx2"/>
                </a:solidFill>
              </a:rPr>
              <a:t>104</a:t>
            </a:r>
            <a:endParaRPr lang="en-US" sz="4000" dirty="0"/>
          </a:p>
        </p:txBody>
      </p:sp>
      <p:sp>
        <p:nvSpPr>
          <p:cNvPr id="18" name="Text 14"/>
          <p:cNvSpPr txBox="1"/>
          <p:nvPr/>
        </p:nvSpPr>
        <p:spPr>
          <a:xfrm>
            <a:off x="3611880" y="2880360"/>
            <a:ext cx="2194560" cy="548640"/>
          </a:xfrm>
          <a:prstGeom prst="rect">
            <a:avLst/>
          </a:prstGeom>
          <a:noFill/>
          <a:ln/>
        </p:spPr>
        <p:txBody>
          <a:bodyPr wrap="square" lIns="0" tIns="0" rIns="0" bIns="0" rtlCol="0" anchor="ctr"/>
          <a:lstStyle/>
          <a:p>
            <a:pPr indent="0" marL="0">
              <a:buNone/>
            </a:pPr>
            <a:r>
              <a:rPr lang="en-US" sz="1300" dirty="0">
                <a:solidFill>
                  <a:schemeClr val="accent5"/>
                </a:solidFill>
              </a:rPr>
              <a:t>master creatives</a:t>
            </a:r>
            <a:endParaRPr lang="en-US" sz="1300" dirty="0"/>
          </a:p>
          <a:p>
            <a:pPr indent="0" marL="0">
              <a:buNone/>
            </a:pPr>
            <a:r>
              <a:rPr lang="en-US" sz="1300" dirty="0">
                <a:solidFill>
                  <a:schemeClr val="accent5"/>
                </a:solidFill>
              </a:rPr>
              <a:t>(new concepts)</a:t>
            </a:r>
            <a:endParaRPr lang="en-US" sz="1300" dirty="0"/>
          </a:p>
        </p:txBody>
      </p:sp>
      <p:sp>
        <p:nvSpPr>
          <p:cNvPr id="19" name="Stat card"/>
          <p:cNvSpPr/>
          <p:nvPr/>
        </p:nvSpPr>
        <p:spPr>
          <a:xfrm>
            <a:off x="6217920" y="1371600"/>
            <a:ext cx="2560320" cy="2148840"/>
          </a:xfrm>
          <a:prstGeom prst="roundRect">
            <a:avLst>
              <a:gd name="adj" fmla="val 5106"/>
            </a:avLst>
          </a:prstGeom>
          <a:solidFill>
            <a:schemeClr val="bg1"/>
          </a:solidFill>
          <a:ln w="15875">
            <a:solidFill>
              <a:schemeClr val="tx1"/>
            </a:solidFill>
            <a:prstDash val="solid"/>
          </a:ln>
          <a:effectLst>
            <a:outerShdw sx="100000" sy="100000" kx="0" ky="0" algn="bl" rotWithShape="0" blurRad="76200" dist="38100" dir="5400000">
              <a:srgbClr val="000000">
                <a:alpha val="12000"/>
              </a:srgbClr>
            </a:outerShdw>
          </a:effectLst>
        </p:spPr>
      </p:sp>
      <p:sp>
        <p:nvSpPr>
          <p:cNvPr id="20" name="Window dot"/>
          <p:cNvSpPr/>
          <p:nvPr/>
        </p:nvSpPr>
        <p:spPr>
          <a:xfrm>
            <a:off x="7909560" y="1508760"/>
            <a:ext cx="128016" cy="128016"/>
          </a:xfrm>
          <a:prstGeom prst="ellipse">
            <a:avLst/>
          </a:prstGeom>
          <a:solidFill>
            <a:schemeClr val="tx2"/>
          </a:solidFill>
          <a:ln w="12700">
            <a:solidFill>
              <a:schemeClr val="tx2"/>
            </a:solidFill>
            <a:prstDash val="solid"/>
          </a:ln>
        </p:spPr>
      </p:sp>
      <p:sp>
        <p:nvSpPr>
          <p:cNvPr id="21" name="Window dot"/>
          <p:cNvSpPr/>
          <p:nvPr/>
        </p:nvSpPr>
        <p:spPr>
          <a:xfrm>
            <a:off x="8138160" y="1508760"/>
            <a:ext cx="128016" cy="128016"/>
          </a:xfrm>
          <a:prstGeom prst="ellipse">
            <a:avLst/>
          </a:prstGeom>
          <a:solidFill>
            <a:schemeClr val="accent4"/>
          </a:solidFill>
          <a:ln w="12700">
            <a:solidFill>
              <a:schemeClr val="accent4"/>
            </a:solidFill>
            <a:prstDash val="solid"/>
          </a:ln>
        </p:spPr>
      </p:sp>
      <p:sp>
        <p:nvSpPr>
          <p:cNvPr id="22" name="Window dot"/>
          <p:cNvSpPr/>
          <p:nvPr/>
        </p:nvSpPr>
        <p:spPr>
          <a:xfrm>
            <a:off x="8366760" y="1508760"/>
            <a:ext cx="128016" cy="128016"/>
          </a:xfrm>
          <a:prstGeom prst="ellipse">
            <a:avLst/>
          </a:prstGeom>
          <a:solidFill>
            <a:schemeClr val="accent3"/>
          </a:solidFill>
          <a:ln w="12700">
            <a:solidFill>
              <a:schemeClr val="accent3"/>
            </a:solidFill>
            <a:prstDash val="solid"/>
          </a:ln>
        </p:spPr>
      </p:sp>
      <p:sp>
        <p:nvSpPr>
          <p:cNvPr id="23" name="Icon circle"/>
          <p:cNvSpPr/>
          <p:nvPr/>
        </p:nvSpPr>
        <p:spPr>
          <a:xfrm>
            <a:off x="6446520" y="1600200"/>
            <a:ext cx="548640" cy="548640"/>
          </a:xfrm>
          <a:prstGeom prst="ellipse">
            <a:avLst/>
          </a:prstGeom>
          <a:solidFill>
            <a:schemeClr val="accent1"/>
          </a:solidFill>
          <a:ln w="12700">
            <a:solidFill>
              <a:schemeClr val="accent1"/>
            </a:solidFill>
            <a:prstDash val="solid"/>
          </a:ln>
        </p:spPr>
      </p:sp>
      <p:pic>
        <p:nvPicPr>
          <p:cNvPr id="24" name="Image 2" descr="icon">    </p:cNvPr>
          <p:cNvPicPr>
            <a:picLocks noChangeAspect="1"/>
          </p:cNvPicPr>
          <p:nvPr/>
        </p:nvPicPr>
        <p:blipFill>
          <a:blip r:embed="rId3"/>
          <a:stretch>
            <a:fillRect/>
          </a:stretch>
        </p:blipFill>
        <p:spPr>
          <a:xfrm>
            <a:off x="6583680" y="1737360"/>
            <a:ext cx="274320" cy="274320"/>
          </a:xfrm>
          <a:prstGeom prst="rect">
            <a:avLst/>
          </a:prstGeom>
        </p:spPr>
      </p:pic>
      <p:sp>
        <p:nvSpPr>
          <p:cNvPr id="25" name="Text 20"/>
          <p:cNvSpPr txBox="1"/>
          <p:nvPr/>
        </p:nvSpPr>
        <p:spPr>
          <a:xfrm>
            <a:off x="6446520" y="2240280"/>
            <a:ext cx="2194560" cy="685800"/>
          </a:xfrm>
          <a:prstGeom prst="rect">
            <a:avLst/>
          </a:prstGeom>
          <a:noFill/>
          <a:ln/>
        </p:spPr>
        <p:txBody>
          <a:bodyPr wrap="square" lIns="0" tIns="0" rIns="0" bIns="0" rtlCol="0" anchor="ctr"/>
          <a:lstStyle/>
          <a:p>
            <a:pPr indent="0" marL="0">
              <a:buNone/>
            </a:pPr>
            <a:r>
              <a:rPr lang="en-US" sz="4000" b="1" dirty="0">
                <a:solidFill>
                  <a:schemeClr val="accent1"/>
                </a:solidFill>
              </a:rPr>
              <a:t>81%</a:t>
            </a:r>
            <a:endParaRPr lang="en-US" sz="4000" dirty="0"/>
          </a:p>
        </p:txBody>
      </p:sp>
      <p:sp>
        <p:nvSpPr>
          <p:cNvPr id="26" name="Text 21"/>
          <p:cNvSpPr txBox="1"/>
          <p:nvPr/>
        </p:nvSpPr>
        <p:spPr>
          <a:xfrm>
            <a:off x="6446520" y="2880360"/>
            <a:ext cx="2194560" cy="548640"/>
          </a:xfrm>
          <a:prstGeom prst="rect">
            <a:avLst/>
          </a:prstGeom>
          <a:noFill/>
          <a:ln/>
        </p:spPr>
        <p:txBody>
          <a:bodyPr wrap="square" lIns="0" tIns="0" rIns="0" bIns="0" rtlCol="0" anchor="ctr"/>
          <a:lstStyle/>
          <a:p>
            <a:pPr indent="0" marL="0">
              <a:buNone/>
            </a:pPr>
            <a:r>
              <a:rPr lang="en-US" sz="1300" dirty="0">
                <a:solidFill>
                  <a:schemeClr val="accent5"/>
                </a:solidFill>
              </a:rPr>
              <a:t>of output went to</a:t>
            </a:r>
            <a:endParaRPr lang="en-US" sz="1300" dirty="0"/>
          </a:p>
          <a:p>
            <a:pPr indent="0" marL="0">
              <a:buNone/>
            </a:pPr>
            <a:r>
              <a:rPr lang="en-US" sz="1300" dirty="0">
                <a:solidFill>
                  <a:schemeClr val="accent5"/>
                </a:solidFill>
              </a:rPr>
              <a:t>the 6 live retainers</a:t>
            </a:r>
            <a:endParaRPr lang="en-US" sz="1300" dirty="0"/>
          </a:p>
        </p:txBody>
      </p:sp>
      <p:sp>
        <p:nvSpPr>
          <p:cNvPr id="27" name="Stat card"/>
          <p:cNvSpPr/>
          <p:nvPr/>
        </p:nvSpPr>
        <p:spPr>
          <a:xfrm>
            <a:off x="9052560" y="1371600"/>
            <a:ext cx="2560320" cy="2148840"/>
          </a:xfrm>
          <a:prstGeom prst="roundRect">
            <a:avLst>
              <a:gd name="adj" fmla="val 5106"/>
            </a:avLst>
          </a:prstGeom>
          <a:solidFill>
            <a:schemeClr val="bg1"/>
          </a:solidFill>
          <a:ln w="15875">
            <a:solidFill>
              <a:schemeClr val="tx1"/>
            </a:solidFill>
            <a:prstDash val="solid"/>
          </a:ln>
          <a:effectLst>
            <a:outerShdw sx="100000" sy="100000" kx="0" ky="0" algn="bl" rotWithShape="0" blurRad="76200" dist="38100" dir="5400000">
              <a:srgbClr val="000000">
                <a:alpha val="12000"/>
              </a:srgbClr>
            </a:outerShdw>
          </a:effectLst>
        </p:spPr>
      </p:sp>
      <p:sp>
        <p:nvSpPr>
          <p:cNvPr id="28" name="Window dot"/>
          <p:cNvSpPr/>
          <p:nvPr/>
        </p:nvSpPr>
        <p:spPr>
          <a:xfrm>
            <a:off x="10744200" y="1508760"/>
            <a:ext cx="128016" cy="128016"/>
          </a:xfrm>
          <a:prstGeom prst="ellipse">
            <a:avLst/>
          </a:prstGeom>
          <a:solidFill>
            <a:schemeClr val="tx2"/>
          </a:solidFill>
          <a:ln w="12700">
            <a:solidFill>
              <a:schemeClr val="tx2"/>
            </a:solidFill>
            <a:prstDash val="solid"/>
          </a:ln>
        </p:spPr>
      </p:sp>
      <p:sp>
        <p:nvSpPr>
          <p:cNvPr id="29" name="Window dot"/>
          <p:cNvSpPr/>
          <p:nvPr/>
        </p:nvSpPr>
        <p:spPr>
          <a:xfrm>
            <a:off x="10972800" y="1508760"/>
            <a:ext cx="128016" cy="128016"/>
          </a:xfrm>
          <a:prstGeom prst="ellipse">
            <a:avLst/>
          </a:prstGeom>
          <a:solidFill>
            <a:schemeClr val="accent4"/>
          </a:solidFill>
          <a:ln w="12700">
            <a:solidFill>
              <a:schemeClr val="accent4"/>
            </a:solidFill>
            <a:prstDash val="solid"/>
          </a:ln>
        </p:spPr>
      </p:sp>
      <p:sp>
        <p:nvSpPr>
          <p:cNvPr id="30" name="Window dot"/>
          <p:cNvSpPr/>
          <p:nvPr/>
        </p:nvSpPr>
        <p:spPr>
          <a:xfrm>
            <a:off x="11201400" y="1508760"/>
            <a:ext cx="128016" cy="128016"/>
          </a:xfrm>
          <a:prstGeom prst="ellipse">
            <a:avLst/>
          </a:prstGeom>
          <a:solidFill>
            <a:schemeClr val="accent3"/>
          </a:solidFill>
          <a:ln w="12700">
            <a:solidFill>
              <a:schemeClr val="accent3"/>
            </a:solidFill>
            <a:prstDash val="solid"/>
          </a:ln>
        </p:spPr>
      </p:sp>
      <p:sp>
        <p:nvSpPr>
          <p:cNvPr id="31" name="Icon circle"/>
          <p:cNvSpPr/>
          <p:nvPr/>
        </p:nvSpPr>
        <p:spPr>
          <a:xfrm>
            <a:off x="9281160" y="1600200"/>
            <a:ext cx="548640" cy="548640"/>
          </a:xfrm>
          <a:prstGeom prst="ellipse">
            <a:avLst/>
          </a:prstGeom>
          <a:solidFill>
            <a:schemeClr val="tx2"/>
          </a:solidFill>
          <a:ln w="12700">
            <a:solidFill>
              <a:schemeClr val="tx2"/>
            </a:solidFill>
            <a:prstDash val="solid"/>
          </a:ln>
        </p:spPr>
      </p:sp>
      <p:pic>
        <p:nvPicPr>
          <p:cNvPr id="32" name="Image 3" descr="icon">    </p:cNvPr>
          <p:cNvPicPr>
            <a:picLocks noChangeAspect="1"/>
          </p:cNvPicPr>
          <p:nvPr/>
        </p:nvPicPr>
        <p:blipFill>
          <a:blip r:embed="rId4"/>
          <a:stretch>
            <a:fillRect/>
          </a:stretch>
        </p:blipFill>
        <p:spPr>
          <a:xfrm>
            <a:off x="9418320" y="1737360"/>
            <a:ext cx="274320" cy="274320"/>
          </a:xfrm>
          <a:prstGeom prst="rect">
            <a:avLst/>
          </a:prstGeom>
        </p:spPr>
      </p:pic>
      <p:sp>
        <p:nvSpPr>
          <p:cNvPr id="33" name="Text 27"/>
          <p:cNvSpPr txBox="1"/>
          <p:nvPr/>
        </p:nvSpPr>
        <p:spPr>
          <a:xfrm>
            <a:off x="9281160" y="2240280"/>
            <a:ext cx="2194560" cy="685800"/>
          </a:xfrm>
          <a:prstGeom prst="rect">
            <a:avLst/>
          </a:prstGeom>
          <a:noFill/>
          <a:ln/>
        </p:spPr>
        <p:txBody>
          <a:bodyPr wrap="square" lIns="0" tIns="0" rIns="0" bIns="0" rtlCol="0" anchor="ctr"/>
          <a:lstStyle/>
          <a:p>
            <a:pPr indent="0" marL="0">
              <a:buNone/>
            </a:pPr>
            <a:r>
              <a:rPr lang="en-US" sz="4000" b="1" dirty="0">
                <a:solidFill>
                  <a:schemeClr val="tx2"/>
                </a:solidFill>
              </a:rPr>
              <a:t>6 / 8</a:t>
            </a:r>
            <a:endParaRPr lang="en-US" sz="4000" dirty="0"/>
          </a:p>
        </p:txBody>
      </p:sp>
      <p:sp>
        <p:nvSpPr>
          <p:cNvPr id="34" name="Text 28"/>
          <p:cNvSpPr txBox="1"/>
          <p:nvPr/>
        </p:nvSpPr>
        <p:spPr>
          <a:xfrm>
            <a:off x="9281160" y="2880360"/>
            <a:ext cx="2194560" cy="548640"/>
          </a:xfrm>
          <a:prstGeom prst="rect">
            <a:avLst/>
          </a:prstGeom>
          <a:noFill/>
          <a:ln/>
        </p:spPr>
        <p:txBody>
          <a:bodyPr wrap="square" lIns="0" tIns="0" rIns="0" bIns="0" rtlCol="0" anchor="ctr"/>
          <a:lstStyle/>
          <a:p>
            <a:pPr indent="0" marL="0">
              <a:buNone/>
            </a:pPr>
            <a:r>
              <a:rPr lang="en-US" sz="1300" dirty="0">
                <a:solidFill>
                  <a:schemeClr val="accent5"/>
                </a:solidFill>
              </a:rPr>
              <a:t>projects closed</a:t>
            </a:r>
            <a:endParaRPr lang="en-US" sz="1300" dirty="0"/>
          </a:p>
          <a:p>
            <a:pPr indent="0" marL="0">
              <a:buNone/>
            </a:pPr>
            <a:r>
              <a:rPr lang="en-US" sz="1300" dirty="0">
                <a:solidFill>
                  <a:schemeClr val="accent5"/>
                </a:solidFill>
              </a:rPr>
              <a:t>on time</a:t>
            </a:r>
            <a:endParaRPr lang="en-US" sz="1300" dirty="0"/>
          </a:p>
        </p:txBody>
      </p:sp>
      <p:sp>
        <p:nvSpPr>
          <p:cNvPr id="35" name="Data placeholder"/>
          <p:cNvSpPr/>
          <p:nvPr/>
        </p:nvSpPr>
        <p:spPr>
          <a:xfrm>
            <a:off x="548640" y="3840480"/>
            <a:ext cx="5394960" cy="2286000"/>
          </a:xfrm>
          <a:prstGeom prst="roundRect">
            <a:avLst>
              <a:gd name="adj" fmla="val 4000"/>
            </a:avLst>
          </a:prstGeom>
          <a:solidFill>
            <a:schemeClr val="accent6"/>
          </a:solidFill>
          <a:ln w="19050">
            <a:solidFill>
              <a:schemeClr val="accent1"/>
            </a:solidFill>
            <a:prstDash val="dash"/>
          </a:ln>
        </p:spPr>
      </p:sp>
      <p:sp>
        <p:nvSpPr>
          <p:cNvPr id="36" name="Text 30"/>
          <p:cNvSpPr txBox="1"/>
          <p:nvPr/>
        </p:nvSpPr>
        <p:spPr>
          <a:xfrm>
            <a:off x="731520" y="3931920"/>
            <a:ext cx="5029200" cy="2103120"/>
          </a:xfrm>
          <a:prstGeom prst="rect">
            <a:avLst/>
          </a:prstGeom>
          <a:noFill/>
          <a:ln/>
        </p:spPr>
        <p:txBody>
          <a:bodyPr wrap="square" lIns="0" tIns="0" rIns="0" bIns="0" rtlCol="0" anchor="ctr"/>
          <a:lstStyle/>
          <a:p>
            <a:pPr indent="0" marL="0">
              <a:buNone/>
            </a:pPr>
            <a:r>
              <a:rPr lang="en-US" sz="1400" b="1" dirty="0">
                <a:solidFill>
                  <a:srgbClr val="B3561A"/>
                </a:solidFill>
              </a:rPr>
              <a:t>TO ADD  </a:t>
            </a:r>
            <a:endParaRPr lang="en-US" sz="1400" dirty="0"/>
          </a:p>
          <a:p>
            <a:pPr indent="0" marL="0">
              <a:buNone/>
            </a:pPr>
            <a:r>
              <a:rPr lang="en-US" sz="1600" i="1" dirty="0">
                <a:solidFill>
                  <a:srgbClr val="B3561A"/>
                </a:solidFill>
              </a:rPr>
              <a:t>Overall weighted KPI score for JAS (one number, e.g. 87%), plus one line on the biggest win and one on the biggest miss.</a:t>
            </a:r>
            <a:endParaRPr lang="en-US" sz="1400" dirty="0"/>
          </a:p>
        </p:txBody>
      </p:sp>
      <p:sp>
        <p:nvSpPr>
          <p:cNvPr id="37" name="Watch-outs card"/>
          <p:cNvSpPr/>
          <p:nvPr/>
        </p:nvSpPr>
        <p:spPr>
          <a:xfrm>
            <a:off x="6217920" y="3840480"/>
            <a:ext cx="5394960" cy="2286000"/>
          </a:xfrm>
          <a:prstGeom prst="roundRect">
            <a:avLst>
              <a:gd name="adj" fmla="val 4800"/>
            </a:avLst>
          </a:prstGeom>
          <a:solidFill>
            <a:schemeClr val="bg1"/>
          </a:solidFill>
          <a:ln w="25400">
            <a:solidFill>
              <a:schemeClr val="accent3"/>
            </a:solidFill>
            <a:prstDash val="solid"/>
          </a:ln>
          <a:effectLst>
            <a:outerShdw sx="100000" sy="100000" kx="0" ky="0" algn="bl" rotWithShape="0" blurRad="76200" dist="38100" dir="5400000">
              <a:srgbClr val="000000">
                <a:alpha val="12000"/>
              </a:srgbClr>
            </a:outerShdw>
          </a:effectLst>
        </p:spPr>
      </p:sp>
      <p:sp>
        <p:nvSpPr>
          <p:cNvPr id="38" name="Window dot"/>
          <p:cNvSpPr/>
          <p:nvPr/>
        </p:nvSpPr>
        <p:spPr>
          <a:xfrm>
            <a:off x="10744200" y="3977640"/>
            <a:ext cx="128016" cy="128016"/>
          </a:xfrm>
          <a:prstGeom prst="ellipse">
            <a:avLst/>
          </a:prstGeom>
          <a:solidFill>
            <a:schemeClr val="tx2"/>
          </a:solidFill>
          <a:ln w="12700">
            <a:solidFill>
              <a:schemeClr val="tx2"/>
            </a:solidFill>
            <a:prstDash val="solid"/>
          </a:ln>
        </p:spPr>
      </p:sp>
      <p:sp>
        <p:nvSpPr>
          <p:cNvPr id="39" name="Window dot"/>
          <p:cNvSpPr/>
          <p:nvPr/>
        </p:nvSpPr>
        <p:spPr>
          <a:xfrm>
            <a:off x="10972800" y="3977640"/>
            <a:ext cx="128016" cy="128016"/>
          </a:xfrm>
          <a:prstGeom prst="ellipse">
            <a:avLst/>
          </a:prstGeom>
          <a:solidFill>
            <a:schemeClr val="accent4"/>
          </a:solidFill>
          <a:ln w="12700">
            <a:solidFill>
              <a:schemeClr val="accent4"/>
            </a:solidFill>
            <a:prstDash val="solid"/>
          </a:ln>
        </p:spPr>
      </p:sp>
      <p:sp>
        <p:nvSpPr>
          <p:cNvPr id="40" name="Window dot"/>
          <p:cNvSpPr/>
          <p:nvPr/>
        </p:nvSpPr>
        <p:spPr>
          <a:xfrm>
            <a:off x="11201400" y="3977640"/>
            <a:ext cx="128016" cy="128016"/>
          </a:xfrm>
          <a:prstGeom prst="ellipse">
            <a:avLst/>
          </a:prstGeom>
          <a:solidFill>
            <a:schemeClr val="accent3"/>
          </a:solidFill>
          <a:ln w="12700">
            <a:solidFill>
              <a:schemeClr val="accent3"/>
            </a:solidFill>
            <a:prstDash val="solid"/>
          </a:ln>
        </p:spPr>
      </p:sp>
      <p:sp>
        <p:nvSpPr>
          <p:cNvPr id="41" name="Icon circle"/>
          <p:cNvSpPr/>
          <p:nvPr/>
        </p:nvSpPr>
        <p:spPr>
          <a:xfrm>
            <a:off x="6446520" y="4041648"/>
            <a:ext cx="457200" cy="457200"/>
          </a:xfrm>
          <a:prstGeom prst="ellipse">
            <a:avLst/>
          </a:prstGeom>
          <a:solidFill>
            <a:schemeClr val="accent3"/>
          </a:solidFill>
          <a:ln w="12700">
            <a:solidFill>
              <a:schemeClr val="accent3"/>
            </a:solidFill>
            <a:prstDash val="solid"/>
          </a:ln>
        </p:spPr>
      </p:sp>
      <p:pic>
        <p:nvPicPr>
          <p:cNvPr id="42" name="Image 4" descr="icon">    </p:cNvPr>
          <p:cNvPicPr>
            <a:picLocks noChangeAspect="1"/>
          </p:cNvPicPr>
          <p:nvPr/>
        </p:nvPicPr>
        <p:blipFill>
          <a:blip r:embed="rId5"/>
          <a:stretch>
            <a:fillRect/>
          </a:stretch>
        </p:blipFill>
        <p:spPr>
          <a:xfrm>
            <a:off x="6560820" y="4155948"/>
            <a:ext cx="228600" cy="228600"/>
          </a:xfrm>
          <a:prstGeom prst="rect">
            <a:avLst/>
          </a:prstGeom>
        </p:spPr>
      </p:pic>
      <p:sp>
        <p:nvSpPr>
          <p:cNvPr id="43" name="Text 36"/>
          <p:cNvSpPr txBox="1"/>
          <p:nvPr/>
        </p:nvSpPr>
        <p:spPr>
          <a:xfrm>
            <a:off x="7040880" y="4041648"/>
            <a:ext cx="2743200" cy="457200"/>
          </a:xfrm>
          <a:prstGeom prst="rect">
            <a:avLst/>
          </a:prstGeom>
          <a:noFill/>
          <a:ln/>
        </p:spPr>
        <p:txBody>
          <a:bodyPr wrap="square" lIns="0" tIns="0" rIns="0" bIns="0" rtlCol="0" anchor="ctr"/>
          <a:lstStyle/>
          <a:p>
            <a:pPr indent="0" marL="0">
              <a:buNone/>
            </a:pPr>
            <a:r>
              <a:rPr lang="en-US" sz="1800" b="1" dirty="0">
                <a:solidFill>
                  <a:schemeClr val="tx1"/>
                </a:solidFill>
              </a:rPr>
              <a:t>Watch-outs</a:t>
            </a:r>
            <a:endParaRPr lang="en-US" sz="1800" dirty="0"/>
          </a:p>
        </p:txBody>
      </p:sp>
      <p:sp>
        <p:nvSpPr>
          <p:cNvPr id="44" name="Text 37"/>
          <p:cNvSpPr txBox="1"/>
          <p:nvPr/>
        </p:nvSpPr>
        <p:spPr>
          <a:xfrm>
            <a:off x="6446520" y="4617720"/>
            <a:ext cx="493776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TMB alone is 44% of all output: heavy reliance on one client</a:t>
            </a:r>
            <a:endParaRPr lang="en-US" sz="1400" dirty="0"/>
          </a:p>
          <a:p>
            <a:pPr marL="342900" indent="-342900">
              <a:spcAft>
                <a:spcPts val="600"/>
              </a:spcAft>
              <a:buSzPct val="100000"/>
              <a:buChar char="•"/>
            </a:pPr>
            <a:r>
              <a:rPr lang="en-US" sz="1400" dirty="0">
                <a:solidFill>
                  <a:schemeClr val="tx1"/>
                </a:solidFill>
              </a:rPr>
              <a:t>67% of master creatives came from one designer: key-person risk</a:t>
            </a:r>
            <a:endParaRPr lang="en-US" sz="1400" dirty="0"/>
          </a:p>
          <a:p>
            <a:pPr marL="342900" indent="-342900">
              <a:spcAft>
                <a:spcPts val="600"/>
              </a:spcAft>
              <a:buSzPct val="100000"/>
              <a:buChar char="•"/>
            </a:pPr>
            <a:r>
              <a:rPr lang="en-US" sz="1400" dirty="0">
                <a:solidFill>
                  <a:schemeClr val="tx1"/>
                </a:solidFill>
              </a:rPr>
              <a:t>2 projects slipped: Checkpoint Diagnostic, Xylemx</a:t>
            </a:r>
            <a:endParaRPr lang="en-US" sz="14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2800" b="1" dirty="0">
                <a:solidFill>
                  <a:schemeClr val="tx1"/>
                </a:solidFill>
              </a:rPr>
              <a:t>Feb roadmap check: volume beat it, new lines lag</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926080"/>
                <a:gridCol w="3017520"/>
                <a:gridCol w="3657600"/>
                <a:gridCol w="1463040"/>
              </a:tblGrid>
              <a:tr h="512064">
                <a:tc>
                  <a:txBody>
                    <a:bodyPr/>
                    <a:lstStyle/>
                    <a:p>
                      <a:pPr indent="0" marL="0">
                        <a:buNone/>
                      </a:pPr>
                      <a:r>
                        <a:rPr lang="en-US" sz="1300" b="1" dirty="0">
                          <a:solidFill>
                            <a:schemeClr val="bg1"/>
                          </a:solidFill>
                        </a:rPr>
                        <a:t>Roadmap line (26 Feb 2026)</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said</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JAS reality</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Status</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Creative volume</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200–250 creatives / month</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~370 / month (1,109 in 3 months)</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2"/>
                          </a:solidFill>
                        </a:rPr>
                        <a:t>Beat</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E3F1E8"/>
                    </a:solidFill>
                  </a:tcPr>
                </a:tc>
              </a:tr>
              <a:tr h="512064">
                <a:tc>
                  <a:txBody>
                    <a:bodyPr/>
                    <a:lstStyle/>
                    <a:p>
                      <a:pPr indent="0" marL="0">
                        <a:buNone/>
                      </a:pPr>
                      <a:r>
                        <a:rPr lang="en-US" sz="1300" b="1" dirty="0">
                          <a:solidFill>
                            <a:schemeClr val="tx1"/>
                          </a:solidFill>
                        </a:rPr>
                        <a:t>Individual projects</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4–5 per month</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~2.7 per month (8 in JAS)</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b="1" dirty="0">
                          <a:solidFill>
                            <a:srgbClr val="B3561A"/>
                          </a:solidFill>
                        </a:rPr>
                        <a:t>Below</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F0CF"/>
                    </a:solidFill>
                  </a:tcPr>
                </a:tc>
              </a:tr>
              <a:tr h="512064">
                <a:tc>
                  <a:txBody>
                    <a:bodyPr/>
                    <a:lstStyle/>
                    <a:p>
                      <a:pPr indent="0" marL="0">
                        <a:buNone/>
                      </a:pPr>
                      <a:r>
                        <a:rPr lang="en-US" sz="1300" b="1" dirty="0">
                          <a:solidFill>
                            <a:schemeClr val="tx1"/>
                          </a:solidFill>
                        </a:rPr>
                        <a:t>AI TVC / YouTube ads</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R&amp;D and trial run before pitching</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3 TVC ads for TVS Green</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2"/>
                          </a:solidFill>
                        </a:rPr>
                        <a:t>Delivered</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E3F1E8"/>
                    </a:solidFill>
                  </a:tcPr>
                </a:tc>
              </a:tr>
              <a:tr h="512064">
                <a:tc>
                  <a:txBody>
                    <a:bodyPr/>
                    <a:lstStyle/>
                    <a:p>
                      <a:pPr indent="0" marL="0">
                        <a:buNone/>
                      </a:pPr>
                      <a:r>
                        <a:rPr lang="en-US" sz="1300" b="1" dirty="0">
                          <a:solidFill>
                            <a:schemeClr val="tx1"/>
                          </a:solidFill>
                        </a:rPr>
                        <a:t>Upsell: Star Health ads, TMB YouTube</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Quarterly ads / YouTube campaigns</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300" i="1" dirty="0">
                          <a:solidFill>
                            <a:srgbClr val="B3561A"/>
                          </a:solidFill>
                        </a:rPr>
                        <a:t>[add: pitched? converted?]</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c>
                  <a:txBody>
                    <a:bodyPr/>
                    <a:lstStyle/>
                    <a:p>
                      <a:pPr algn="ctr" indent="0" marL="0">
                        <a:buNone/>
                      </a:pPr>
                      <a:r>
                        <a:rPr lang="en-US" sz="1300" i="1" dirty="0">
                          <a:solidFill>
                            <a:srgbClr val="B3561A"/>
                          </a:solidFill>
                        </a:rPr>
                        <a:t>[add]</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r>
              <a:tr h="512064">
                <a:tc>
                  <a:txBody>
                    <a:bodyPr/>
                    <a:lstStyle/>
                    <a:p>
                      <a:pPr indent="0" marL="0">
                        <a:buNone/>
                      </a:pPr>
                      <a:r>
                        <a:rPr lang="en-US" sz="1300" b="1" dirty="0">
                          <a:solidFill>
                            <a:schemeClr val="tx1"/>
                          </a:solidFill>
                        </a:rPr>
                        <a:t>New retainers</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+2 Type 1, +2 Type 2</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VGN Homes added  ·  [confirm: KIMS status]</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b="1" dirty="0">
                          <a:solidFill>
                            <a:srgbClr val="B3561A"/>
                          </a:solidFill>
                        </a:rPr>
                        <a:t>Partial</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F0CF"/>
                    </a:solidFill>
                  </a:tcPr>
                </a:tc>
              </a:tr>
              <a:tr h="512064">
                <a:tc>
                  <a:txBody>
                    <a:bodyPr/>
                    <a:lstStyle/>
                    <a:p>
                      <a:pPr indent="0" marL="0">
                        <a:buNone/>
                      </a:pPr>
                      <a:r>
                        <a:rPr lang="en-US" sz="1300" b="1" dirty="0">
                          <a:solidFill>
                            <a:schemeClr val="tx1"/>
                          </a:solidFill>
                        </a:rPr>
                        <a:t>Gen-AI photography</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Food, fashion, industrial shoots</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300" i="1" dirty="0">
                          <a:solidFill>
                            <a:srgbClr val="B3561A"/>
                          </a:solidFill>
                        </a:rPr>
                        <a:t>[add: any paid jobs?]</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c>
                  <a:txBody>
                    <a:bodyPr/>
                    <a:lstStyle/>
                    <a:p>
                      <a:pPr algn="ctr" indent="0" marL="0">
                        <a:buNone/>
                      </a:pPr>
                      <a:r>
                        <a:rPr lang="en-US" sz="1300" i="1" dirty="0">
                          <a:solidFill>
                            <a:srgbClr val="B3561A"/>
                          </a:solidFill>
                        </a:rPr>
                        <a:t>[add]</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r>
              <a:tr h="512064">
                <a:tc>
                  <a:txBody>
                    <a:bodyPr/>
                    <a:lstStyle/>
                    <a:p>
                      <a:pPr indent="0" marL="0">
                        <a:buNone/>
                      </a:pPr>
                      <a:r>
                        <a:rPr lang="en-US" sz="1300" b="1" dirty="0">
                          <a:solidFill>
                            <a:schemeClr val="tx1"/>
                          </a:solidFill>
                        </a:rPr>
                        <a:t>Annual reports / white papers</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New high-value category</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None in the JAS tracker</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3"/>
                          </a:solidFill>
                        </a:rPr>
                        <a:t>Not started</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9DAD3"/>
                    </a:solidFill>
                  </a:tcPr>
                </a:tc>
              </a:tr>
              <a:tr h="512064">
                <a:tc>
                  <a:txBody>
                    <a:bodyPr/>
                    <a:lstStyle/>
                    <a:p>
                      <a:pPr indent="0" marL="0">
                        <a:buNone/>
                      </a:pPr>
                      <a:r>
                        <a:rPr lang="en-US" sz="1300" b="1" dirty="0">
                          <a:solidFill>
                            <a:schemeClr val="tx1"/>
                          </a:solidFill>
                        </a:rPr>
                        <a:t>Resources requested</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2 designers, 1 video, AI tools</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300" i="1" dirty="0">
                          <a:solidFill>
                            <a:srgbClr val="B3561A"/>
                          </a:solidFill>
                        </a:rPr>
                        <a:t>[add: approved / pending]</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c>
                  <a:txBody>
                    <a:bodyPr/>
                    <a:lstStyle/>
                    <a:p>
                      <a:pPr algn="ctr" indent="0" marL="0">
                        <a:buNone/>
                      </a:pPr>
                      <a:r>
                        <a:rPr lang="en-US" sz="1300" i="1" dirty="0">
                          <a:solidFill>
                            <a:srgbClr val="B3561A"/>
                          </a:solidFill>
                        </a:rPr>
                        <a:t>[add]</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r>
            </a:tbl>
          </a:graphicData>
        </a:graphic>
      </p:graphicFrame>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2800" b="1" dirty="0">
                <a:solidFill>
                  <a:schemeClr val="tx1"/>
                </a:solidFill>
              </a:rPr>
              <a:t>TVS ads: committed last quarter, delivered this quarter</a:t>
            </a:r>
            <a:endParaRPr lang="en-US" sz="2800" dirty="0"/>
          </a:p>
        </p:txBody>
      </p:sp>
      <p:sp>
        <p:nvSpPr>
          <p:cNvPr id="3" name="Icon circle"/>
          <p:cNvSpPr/>
          <p:nvPr/>
        </p:nvSpPr>
        <p:spPr>
          <a:xfrm>
            <a:off x="731520" y="1463040"/>
            <a:ext cx="822960" cy="822960"/>
          </a:xfrm>
          <a:prstGeom prst="ellipse">
            <a:avLst/>
          </a:prstGeom>
          <a:solidFill>
            <a:schemeClr val="accent1"/>
          </a:solidFill>
          <a:ln w="12700">
            <a:solidFill>
              <a:schemeClr val="accent1"/>
            </a:solidFill>
            <a:prstDash val="solid"/>
          </a:ln>
        </p:spPr>
      </p:sp>
      <p:pic>
        <p:nvPicPr>
          <p:cNvPr id="4" name="Image 0" descr="icon">    </p:cNvPr>
          <p:cNvPicPr>
            <a:picLocks noChangeAspect="1"/>
          </p:cNvPicPr>
          <p:nvPr/>
        </p:nvPicPr>
        <p:blipFill>
          <a:blip r:embed="rId1"/>
          <a:stretch>
            <a:fillRect/>
          </a:stretch>
        </p:blipFill>
        <p:spPr>
          <a:xfrm>
            <a:off x="937260" y="1668780"/>
            <a:ext cx="411480" cy="411480"/>
          </a:xfrm>
          <a:prstGeom prst="rect">
            <a:avLst/>
          </a:prstGeom>
        </p:spPr>
      </p:pic>
      <p:sp>
        <p:nvSpPr>
          <p:cNvPr id="5" name="Timeline arrow"/>
          <p:cNvSpPr/>
          <p:nvPr/>
        </p:nvSpPr>
        <p:spPr>
          <a:xfrm>
            <a:off x="1645920" y="1874520"/>
            <a:ext cx="1280160" cy="0"/>
          </a:xfrm>
          <a:prstGeom prst="line">
            <a:avLst/>
          </a:prstGeom>
          <a:noFill/>
          <a:ln w="25400">
            <a:solidFill>
              <a:schemeClr val="accent5"/>
            </a:solidFill>
            <a:prstDash val="dash"/>
            <a:tailEnd type="triangle"/>
          </a:ln>
        </p:spPr>
      </p:sp>
      <p:sp>
        <p:nvSpPr>
          <p:cNvPr id="6" name="Text 3"/>
          <p:cNvSpPr txBox="1"/>
          <p:nvPr/>
        </p:nvSpPr>
        <p:spPr>
          <a:xfrm>
            <a:off x="457200" y="2377440"/>
            <a:ext cx="1371600" cy="365760"/>
          </a:xfrm>
          <a:prstGeom prst="rect">
            <a:avLst/>
          </a:prstGeom>
          <a:noFill/>
          <a:ln/>
        </p:spPr>
        <p:txBody>
          <a:bodyPr wrap="square" lIns="0" tIns="0" rIns="0" bIns="0" rtlCol="0" anchor="ctr"/>
          <a:lstStyle/>
          <a:p>
            <a:pPr algn="ctr" indent="0" marL="0">
              <a:buNone/>
            </a:pPr>
            <a:r>
              <a:rPr lang="en-US" sz="1600" b="1" dirty="0">
                <a:solidFill>
                  <a:schemeClr val="tx1"/>
                </a:solidFill>
              </a:rPr>
              <a:t>AMJ 2026</a:t>
            </a:r>
            <a:endParaRPr lang="en-US" sz="1600" dirty="0"/>
          </a:p>
        </p:txBody>
      </p:sp>
      <p:sp>
        <p:nvSpPr>
          <p:cNvPr id="7" name="Text 4"/>
          <p:cNvSpPr txBox="1"/>
          <p:nvPr/>
        </p:nvSpPr>
        <p:spPr>
          <a:xfrm>
            <a:off x="365760" y="2743200"/>
            <a:ext cx="1554480" cy="594360"/>
          </a:xfrm>
          <a:prstGeom prst="rect">
            <a:avLst/>
          </a:prstGeom>
          <a:noFill/>
          <a:ln/>
        </p:spPr>
        <p:txBody>
          <a:bodyPr wrap="square" lIns="0" tIns="0" rIns="0" bIns="0" rtlCol="0" anchor="ctr"/>
          <a:lstStyle/>
          <a:p>
            <a:pPr algn="ctr" indent="0" marL="0">
              <a:buNone/>
            </a:pPr>
            <a:r>
              <a:rPr lang="en-US" sz="1200" dirty="0">
                <a:solidFill>
                  <a:schemeClr val="accent5"/>
                </a:solidFill>
              </a:rPr>
              <a:t>Committed to the client</a:t>
            </a:r>
            <a:endParaRPr lang="en-US" sz="1200" dirty="0"/>
          </a:p>
        </p:txBody>
      </p:sp>
      <p:sp>
        <p:nvSpPr>
          <p:cNvPr id="8" name="Icon circle"/>
          <p:cNvSpPr/>
          <p:nvPr/>
        </p:nvSpPr>
        <p:spPr>
          <a:xfrm>
            <a:off x="3017520" y="1463040"/>
            <a:ext cx="822960" cy="822960"/>
          </a:xfrm>
          <a:prstGeom prst="ellipse">
            <a:avLst/>
          </a:prstGeom>
          <a:solidFill>
            <a:schemeClr val="tx2"/>
          </a:solidFill>
          <a:ln w="12700">
            <a:solidFill>
              <a:schemeClr val="tx2"/>
            </a:solidFill>
            <a:prstDash val="solid"/>
          </a:ln>
        </p:spPr>
      </p:sp>
      <p:pic>
        <p:nvPicPr>
          <p:cNvPr id="9" name="Image 1" descr="icon">    </p:cNvPr>
          <p:cNvPicPr>
            <a:picLocks noChangeAspect="1"/>
          </p:cNvPicPr>
          <p:nvPr/>
        </p:nvPicPr>
        <p:blipFill>
          <a:blip r:embed="rId2"/>
          <a:stretch>
            <a:fillRect/>
          </a:stretch>
        </p:blipFill>
        <p:spPr>
          <a:xfrm>
            <a:off x="3223260" y="1668780"/>
            <a:ext cx="411480" cy="411480"/>
          </a:xfrm>
          <a:prstGeom prst="rect">
            <a:avLst/>
          </a:prstGeom>
        </p:spPr>
      </p:pic>
      <p:sp>
        <p:nvSpPr>
          <p:cNvPr id="10" name="Timeline arrow"/>
          <p:cNvSpPr/>
          <p:nvPr/>
        </p:nvSpPr>
        <p:spPr>
          <a:xfrm>
            <a:off x="3931920" y="1874520"/>
            <a:ext cx="1280160" cy="0"/>
          </a:xfrm>
          <a:prstGeom prst="line">
            <a:avLst/>
          </a:prstGeom>
          <a:noFill/>
          <a:ln w="25400">
            <a:solidFill>
              <a:schemeClr val="accent5"/>
            </a:solidFill>
            <a:prstDash val="dash"/>
            <a:tailEnd type="triangle"/>
          </a:ln>
        </p:spPr>
      </p:sp>
      <p:sp>
        <p:nvSpPr>
          <p:cNvPr id="11" name="Text 7"/>
          <p:cNvSpPr txBox="1"/>
          <p:nvPr/>
        </p:nvSpPr>
        <p:spPr>
          <a:xfrm>
            <a:off x="2743200" y="2377440"/>
            <a:ext cx="1371600" cy="365760"/>
          </a:xfrm>
          <a:prstGeom prst="rect">
            <a:avLst/>
          </a:prstGeom>
          <a:noFill/>
          <a:ln/>
        </p:spPr>
        <p:txBody>
          <a:bodyPr wrap="square" lIns="0" tIns="0" rIns="0" bIns="0" rtlCol="0" anchor="ctr"/>
          <a:lstStyle/>
          <a:p>
            <a:pPr algn="ctr" indent="0" marL="0">
              <a:buNone/>
            </a:pPr>
            <a:r>
              <a:rPr lang="en-US" sz="1600" b="1" dirty="0">
                <a:solidFill>
                  <a:schemeClr val="tx1"/>
                </a:solidFill>
              </a:rPr>
              <a:t>JAS 2026</a:t>
            </a:r>
            <a:endParaRPr lang="en-US" sz="1600" dirty="0"/>
          </a:p>
        </p:txBody>
      </p:sp>
      <p:sp>
        <p:nvSpPr>
          <p:cNvPr id="12" name="Text 8"/>
          <p:cNvSpPr txBox="1"/>
          <p:nvPr/>
        </p:nvSpPr>
        <p:spPr>
          <a:xfrm>
            <a:off x="2651760" y="2743200"/>
            <a:ext cx="1554480" cy="594360"/>
          </a:xfrm>
          <a:prstGeom prst="rect">
            <a:avLst/>
          </a:prstGeom>
          <a:noFill/>
          <a:ln/>
        </p:spPr>
        <p:txBody>
          <a:bodyPr wrap="square" lIns="0" tIns="0" rIns="0" bIns="0" rtlCol="0" anchor="ctr"/>
          <a:lstStyle/>
          <a:p>
            <a:pPr algn="ctr" indent="0" marL="0">
              <a:buNone/>
            </a:pPr>
            <a:r>
              <a:rPr lang="en-US" sz="1200" dirty="0">
                <a:solidFill>
                  <a:schemeClr val="accent5"/>
                </a:solidFill>
              </a:rPr>
              <a:t>Concepts and production executed</a:t>
            </a:r>
            <a:endParaRPr lang="en-US" sz="1200" dirty="0"/>
          </a:p>
        </p:txBody>
      </p:sp>
      <p:sp>
        <p:nvSpPr>
          <p:cNvPr id="13" name="Icon circle"/>
          <p:cNvSpPr/>
          <p:nvPr/>
        </p:nvSpPr>
        <p:spPr>
          <a:xfrm>
            <a:off x="5303520" y="1463040"/>
            <a:ext cx="822960" cy="822960"/>
          </a:xfrm>
          <a:prstGeom prst="ellipse">
            <a:avLst/>
          </a:prstGeom>
          <a:solidFill>
            <a:schemeClr val="accent1"/>
          </a:solidFill>
          <a:ln w="12700">
            <a:solidFill>
              <a:schemeClr val="accent1"/>
            </a:solidFill>
            <a:prstDash val="solid"/>
          </a:ln>
        </p:spPr>
      </p:sp>
      <p:pic>
        <p:nvPicPr>
          <p:cNvPr id="14" name="Image 2" descr="icon">    </p:cNvPr>
          <p:cNvPicPr>
            <a:picLocks noChangeAspect="1"/>
          </p:cNvPicPr>
          <p:nvPr/>
        </p:nvPicPr>
        <p:blipFill>
          <a:blip r:embed="rId3"/>
          <a:stretch>
            <a:fillRect/>
          </a:stretch>
        </p:blipFill>
        <p:spPr>
          <a:xfrm>
            <a:off x="5509260" y="1668780"/>
            <a:ext cx="411480" cy="411480"/>
          </a:xfrm>
          <a:prstGeom prst="rect">
            <a:avLst/>
          </a:prstGeom>
        </p:spPr>
      </p:pic>
      <p:sp>
        <p:nvSpPr>
          <p:cNvPr id="15" name="Text 10"/>
          <p:cNvSpPr txBox="1"/>
          <p:nvPr/>
        </p:nvSpPr>
        <p:spPr>
          <a:xfrm>
            <a:off x="5029200" y="2377440"/>
            <a:ext cx="1371600" cy="365760"/>
          </a:xfrm>
          <a:prstGeom prst="rect">
            <a:avLst/>
          </a:prstGeom>
          <a:noFill/>
          <a:ln/>
        </p:spPr>
        <p:txBody>
          <a:bodyPr wrap="square" lIns="0" tIns="0" rIns="0" bIns="0" rtlCol="0" anchor="ctr"/>
          <a:lstStyle/>
          <a:p>
            <a:pPr algn="ctr" indent="0" marL="0">
              <a:buNone/>
            </a:pPr>
            <a:r>
              <a:rPr lang="en-US" sz="1600" b="1" dirty="0">
                <a:solidFill>
                  <a:schemeClr val="tx1"/>
                </a:solidFill>
              </a:rPr>
              <a:t>Delivered</a:t>
            </a:r>
            <a:endParaRPr lang="en-US" sz="1600" dirty="0"/>
          </a:p>
        </p:txBody>
      </p:sp>
      <p:sp>
        <p:nvSpPr>
          <p:cNvPr id="16" name="Text 11"/>
          <p:cNvSpPr txBox="1"/>
          <p:nvPr/>
        </p:nvSpPr>
        <p:spPr>
          <a:xfrm>
            <a:off x="4937760" y="2743200"/>
            <a:ext cx="1554480" cy="594360"/>
          </a:xfrm>
          <a:prstGeom prst="rect">
            <a:avLst/>
          </a:prstGeom>
          <a:noFill/>
          <a:ln/>
        </p:spPr>
        <p:txBody>
          <a:bodyPr wrap="square" lIns="0" tIns="0" rIns="0" bIns="0" rtlCol="0" anchor="ctr"/>
          <a:lstStyle/>
          <a:p>
            <a:pPr algn="ctr" indent="0" marL="0">
              <a:buNone/>
            </a:pPr>
            <a:r>
              <a:rPr lang="en-US" sz="1200" dirty="0">
                <a:solidFill>
                  <a:schemeClr val="accent5"/>
                </a:solidFill>
              </a:rPr>
              <a:t>3 TVC commercial ads</a:t>
            </a:r>
            <a:endParaRPr lang="en-US" sz="1200" dirty="0"/>
          </a:p>
        </p:txBody>
      </p:sp>
      <p:sp>
        <p:nvSpPr>
          <p:cNvPr id="17" name="TVS facts card"/>
          <p:cNvSpPr/>
          <p:nvPr/>
        </p:nvSpPr>
        <p:spPr>
          <a:xfrm>
            <a:off x="548640" y="3657600"/>
            <a:ext cx="6583680" cy="2468880"/>
          </a:xfrm>
          <a:prstGeom prst="roundRect">
            <a:avLst>
              <a:gd name="adj" fmla="val 4444"/>
            </a:avLst>
          </a:prstGeom>
          <a:solidFill>
            <a:schemeClr val="bg1"/>
          </a:solidFill>
          <a:ln w="25400">
            <a:solidFill>
              <a:schemeClr val="tx2"/>
            </a:solidFill>
            <a:prstDash val="solid"/>
          </a:ln>
          <a:effectLst>
            <a:outerShdw sx="100000" sy="100000" kx="0" ky="0" algn="bl" rotWithShape="0" blurRad="76200" dist="38100" dir="5400000">
              <a:srgbClr val="000000">
                <a:alpha val="12000"/>
              </a:srgbClr>
            </a:outerShdw>
          </a:effectLst>
        </p:spPr>
      </p:sp>
      <p:sp>
        <p:nvSpPr>
          <p:cNvPr id="18" name="Window dot"/>
          <p:cNvSpPr/>
          <p:nvPr/>
        </p:nvSpPr>
        <p:spPr>
          <a:xfrm>
            <a:off x="6263640" y="3794760"/>
            <a:ext cx="128016" cy="128016"/>
          </a:xfrm>
          <a:prstGeom prst="ellipse">
            <a:avLst/>
          </a:prstGeom>
          <a:solidFill>
            <a:schemeClr val="tx2"/>
          </a:solidFill>
          <a:ln w="12700">
            <a:solidFill>
              <a:schemeClr val="tx2"/>
            </a:solidFill>
            <a:prstDash val="solid"/>
          </a:ln>
        </p:spPr>
      </p:sp>
      <p:sp>
        <p:nvSpPr>
          <p:cNvPr id="19" name="Window dot"/>
          <p:cNvSpPr/>
          <p:nvPr/>
        </p:nvSpPr>
        <p:spPr>
          <a:xfrm>
            <a:off x="6492240" y="3794760"/>
            <a:ext cx="128016" cy="128016"/>
          </a:xfrm>
          <a:prstGeom prst="ellipse">
            <a:avLst/>
          </a:prstGeom>
          <a:solidFill>
            <a:schemeClr val="accent4"/>
          </a:solidFill>
          <a:ln w="12700">
            <a:solidFill>
              <a:schemeClr val="accent4"/>
            </a:solidFill>
            <a:prstDash val="solid"/>
          </a:ln>
        </p:spPr>
      </p:sp>
      <p:sp>
        <p:nvSpPr>
          <p:cNvPr id="20" name="Window dot"/>
          <p:cNvSpPr/>
          <p:nvPr/>
        </p:nvSpPr>
        <p:spPr>
          <a:xfrm>
            <a:off x="6720840" y="3794760"/>
            <a:ext cx="128016" cy="128016"/>
          </a:xfrm>
          <a:prstGeom prst="ellipse">
            <a:avLst/>
          </a:prstGeom>
          <a:solidFill>
            <a:schemeClr val="accent3"/>
          </a:solidFill>
          <a:ln w="12700">
            <a:solidFill>
              <a:schemeClr val="accent3"/>
            </a:solidFill>
            <a:prstDash val="solid"/>
          </a:ln>
        </p:spPr>
      </p:sp>
      <p:sp>
        <p:nvSpPr>
          <p:cNvPr id="21" name="Text 16"/>
          <p:cNvSpPr txBox="1"/>
          <p:nvPr/>
        </p:nvSpPr>
        <p:spPr>
          <a:xfrm>
            <a:off x="822960" y="4023360"/>
            <a:ext cx="6035040" cy="1920240"/>
          </a:xfrm>
          <a:prstGeom prst="rect">
            <a:avLst/>
          </a:prstGeom>
          <a:noFill/>
          <a:ln/>
        </p:spPr>
        <p:txBody>
          <a:bodyPr wrap="square" lIns="0" tIns="0" rIns="0" bIns="0" rtlCol="0" anchor="t"/>
          <a:lstStyle/>
          <a:p>
            <a:pPr indent="0" marL="0">
              <a:spcAft>
                <a:spcPts val="800"/>
              </a:spcAft>
              <a:buNone/>
            </a:pPr>
            <a:r>
              <a:rPr lang="en-US" sz="1500" b="1" dirty="0">
                <a:solidFill>
                  <a:schemeClr val="tx1"/>
                </a:solidFill>
              </a:rPr>
              <a:t>Scope: </a:t>
            </a:r>
            <a:pPr indent="0" marL="0">
              <a:spcAft>
                <a:spcPts val="800"/>
              </a:spcAft>
              <a:buNone/>
            </a:pPr>
            <a:r>
              <a:rPr lang="en-US" sz="1500" dirty="0">
                <a:solidFill>
                  <a:schemeClr val="tx1"/>
                </a:solidFill>
              </a:rPr>
              <a:t>3 TVC commercial ads for TVS Green</a:t>
            </a:r>
            <a:endParaRPr lang="en-US" sz="1500" dirty="0"/>
          </a:p>
          <a:p>
            <a:pPr indent="0" marL="0">
              <a:spcAft>
                <a:spcPts val="800"/>
              </a:spcAft>
              <a:buNone/>
            </a:pPr>
            <a:r>
              <a:rPr lang="en-US" sz="1500" b="1" dirty="0">
                <a:solidFill>
                  <a:schemeClr val="tx1"/>
                </a:solidFill>
              </a:rPr>
              <a:t>Team: </a:t>
            </a:r>
            <a:pPr indent="0" marL="0">
              <a:spcAft>
                <a:spcPts val="800"/>
              </a:spcAft>
              <a:buNone/>
            </a:pPr>
            <a:r>
              <a:rPr lang="en-US" sz="1500" dirty="0">
                <a:solidFill>
                  <a:schemeClr val="tx1"/>
                </a:solidFill>
              </a:rPr>
              <a:t>Gowtham (5 master concepts), Naresh (7 creatives)</a:t>
            </a:r>
            <a:endParaRPr lang="en-US" sz="1500" dirty="0"/>
          </a:p>
          <a:p>
            <a:pPr indent="0" marL="0">
              <a:spcAft>
                <a:spcPts val="800"/>
              </a:spcAft>
              <a:buNone/>
            </a:pPr>
            <a:r>
              <a:rPr lang="en-US" sz="1500" b="1" dirty="0">
                <a:solidFill>
                  <a:schemeClr val="tx1"/>
                </a:solidFill>
              </a:rPr>
              <a:t>Why it matters: </a:t>
            </a:r>
            <a:pPr indent="0" marL="0">
              <a:spcAft>
                <a:spcPts val="800"/>
              </a:spcAft>
              <a:buNone/>
            </a:pPr>
            <a:r>
              <a:rPr lang="en-US" sz="1500" dirty="0">
                <a:solidFill>
                  <a:schemeClr val="tx1"/>
                </a:solidFill>
              </a:rPr>
              <a:t>first delivery against the Feb roadmap's TVC / YouTube ads line. We kept a commitment across quarters, and it is the base for OND's real-estate AI videos.</a:t>
            </a:r>
            <a:endParaRPr lang="en-US" sz="1500" dirty="0"/>
          </a:p>
        </p:txBody>
      </p:sp>
      <p:sp>
        <p:nvSpPr>
          <p:cNvPr id="22" name="Data placeholder"/>
          <p:cNvSpPr/>
          <p:nvPr/>
        </p:nvSpPr>
        <p:spPr>
          <a:xfrm>
            <a:off x="7498080" y="1371600"/>
            <a:ext cx="4114800" cy="4754880"/>
          </a:xfrm>
          <a:prstGeom prst="roundRect">
            <a:avLst>
              <a:gd name="adj" fmla="val 2222"/>
            </a:avLst>
          </a:prstGeom>
          <a:solidFill>
            <a:schemeClr val="accent6"/>
          </a:solidFill>
          <a:ln w="19050">
            <a:solidFill>
              <a:schemeClr val="accent1"/>
            </a:solidFill>
            <a:prstDash val="dash"/>
          </a:ln>
        </p:spPr>
      </p:sp>
      <p:sp>
        <p:nvSpPr>
          <p:cNvPr id="23" name="Text 18"/>
          <p:cNvSpPr txBox="1"/>
          <p:nvPr/>
        </p:nvSpPr>
        <p:spPr>
          <a:xfrm>
            <a:off x="7680960" y="1463040"/>
            <a:ext cx="3749040" cy="4572000"/>
          </a:xfrm>
          <a:prstGeom prst="rect">
            <a:avLst/>
          </a:prstGeom>
          <a:noFill/>
          <a:ln/>
        </p:spPr>
        <p:txBody>
          <a:bodyPr wrap="square" lIns="0" tIns="0" rIns="0" bIns="0" rtlCol="0" anchor="ctr"/>
          <a:lstStyle/>
          <a:p>
            <a:pPr indent="0" marL="0">
              <a:buNone/>
            </a:pPr>
            <a:r>
              <a:rPr lang="en-US" sz="1400" b="1" dirty="0">
                <a:solidFill>
                  <a:srgbClr val="B3561A"/>
                </a:solidFill>
              </a:rPr>
              <a:t>TO ADD  </a:t>
            </a:r>
            <a:endParaRPr lang="en-US" sz="1400" dirty="0"/>
          </a:p>
          <a:p>
            <a:pPr indent="0" marL="0">
              <a:buNone/>
            </a:pPr>
            <a:r>
              <a:rPr lang="en-US" sz="1600" i="1" dirty="0">
                <a:solidFill>
                  <a:srgbClr val="B3561A"/>
                </a:solidFill>
              </a:rPr>
              <a:t>2–3 stills or a 10-sec clip from the TVS ads, plus one line of client feedback (quote or approval email).</a:t>
            </a:r>
            <a:endParaRPr lang="en-US" sz="14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2800" b="1" dirty="0">
                <a:solidFill>
                  <a:schemeClr val="tx1"/>
                </a:solidFill>
              </a:rPr>
              <a:t>Month-wise: July closed 4 projects, August slipped 2</a:t>
            </a:r>
            <a:endParaRPr lang="en-US" sz="2800" dirty="0"/>
          </a:p>
        </p:txBody>
      </p:sp>
      <p:sp>
        <p:nvSpPr>
          <p:cNvPr id="3" name="Projects chart card"/>
          <p:cNvSpPr/>
          <p:nvPr/>
        </p:nvSpPr>
        <p:spPr>
          <a:xfrm>
            <a:off x="548640" y="1371600"/>
            <a:ext cx="5120640" cy="4754880"/>
          </a:xfrm>
          <a:prstGeom prst="roundRect">
            <a:avLst>
              <a:gd name="adj" fmla="val 2308"/>
            </a:avLst>
          </a:prstGeom>
          <a:solidFill>
            <a:schemeClr val="bg1"/>
          </a:solidFill>
          <a:ln w="15875">
            <a:solidFill>
              <a:schemeClr val="tx1"/>
            </a:solidFill>
            <a:prstDash val="solid"/>
          </a:ln>
          <a:effectLst>
            <a:outerShdw sx="100000" sy="100000" kx="0" ky="0" algn="bl" rotWithShape="0" blurRad="76200" dist="38100" dir="5400000">
              <a:srgbClr val="000000">
                <a:alpha val="12000"/>
              </a:srgbClr>
            </a:outerShdw>
          </a:effectLst>
        </p:spPr>
      </p:sp>
      <p:sp>
        <p:nvSpPr>
          <p:cNvPr id="4" name="Window dot"/>
          <p:cNvSpPr/>
          <p:nvPr/>
        </p:nvSpPr>
        <p:spPr>
          <a:xfrm>
            <a:off x="4800600" y="1508760"/>
            <a:ext cx="128016" cy="128016"/>
          </a:xfrm>
          <a:prstGeom prst="ellipse">
            <a:avLst/>
          </a:prstGeom>
          <a:solidFill>
            <a:schemeClr val="tx2"/>
          </a:solidFill>
          <a:ln w="12700">
            <a:solidFill>
              <a:schemeClr val="tx2"/>
            </a:solidFill>
            <a:prstDash val="solid"/>
          </a:ln>
        </p:spPr>
      </p:sp>
      <p:sp>
        <p:nvSpPr>
          <p:cNvPr id="5" name="Window dot"/>
          <p:cNvSpPr/>
          <p:nvPr/>
        </p:nvSpPr>
        <p:spPr>
          <a:xfrm>
            <a:off x="5029200" y="1508760"/>
            <a:ext cx="128016" cy="128016"/>
          </a:xfrm>
          <a:prstGeom prst="ellipse">
            <a:avLst/>
          </a:prstGeom>
          <a:solidFill>
            <a:schemeClr val="accent4"/>
          </a:solidFill>
          <a:ln w="12700">
            <a:solidFill>
              <a:schemeClr val="accent4"/>
            </a:solidFill>
            <a:prstDash val="solid"/>
          </a:ln>
        </p:spPr>
      </p:sp>
      <p:sp>
        <p:nvSpPr>
          <p:cNvPr id="6" name="Window dot"/>
          <p:cNvSpPr/>
          <p:nvPr/>
        </p:nvSpPr>
        <p:spPr>
          <a:xfrm>
            <a:off x="5257800" y="1508760"/>
            <a:ext cx="128016" cy="128016"/>
          </a:xfrm>
          <a:prstGeom prst="ellipse">
            <a:avLst/>
          </a:prstGeom>
          <a:solidFill>
            <a:schemeClr val="accent3"/>
          </a:solidFill>
          <a:ln w="12700">
            <a:solidFill>
              <a:schemeClr val="accent3"/>
            </a:solidFill>
            <a:prstDash val="solid"/>
          </a:ln>
        </p:spPr>
      </p:sp>
      <p:graphicFrame>
        <p:nvGraphicFramePr>
          <p:cNvPr id="7" name="Chart 0" descr=""/>
          <p:cNvGraphicFramePr/>
          <p:nvPr/>
        </p:nvGraphicFramePr>
        <p:xfrm>
          <a:off x="731520" y="1691640"/>
          <a:ext cx="4754880" cy="42976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035040" y="1371600"/>
          <a:ext cx="5577840" cy="914400"/>
        </p:xfrm>
        <a:graphic>
          <a:graphicData uri="http://schemas.openxmlformats.org/drawingml/2006/table">
            <a:tbl>
              <a:tblPr/>
              <a:tblGrid>
                <a:gridCol w="1737360"/>
                <a:gridCol w="1280160"/>
                <a:gridCol w="1280160"/>
                <a:gridCol w="1280160"/>
              </a:tblGrid>
              <a:tr h="566928">
                <a:tc>
                  <a:txBody>
                    <a:bodyPr/>
                    <a:lstStyle/>
                    <a:p>
                      <a:pPr indent="0" marL="0">
                        <a:buNone/>
                      </a:pPr>
                      <a:r>
                        <a:rPr lang="en-US" sz="1400" b="1" dirty="0">
                          <a:solidFill>
                            <a:schemeClr val="bg1"/>
                          </a:solidFill>
                        </a:rPr>
                        <a:t>Creatives</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July</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August</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September</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r>
              <a:tr h="566928">
                <a:tc>
                  <a:txBody>
                    <a:bodyPr/>
                    <a:lstStyle/>
                    <a:p>
                      <a:pPr indent="0" marL="0">
                        <a:buNone/>
                      </a:pPr>
                      <a:r>
                        <a:rPr lang="en-US" sz="1400" b="1" dirty="0">
                          <a:solidFill>
                            <a:schemeClr val="tx1"/>
                          </a:solidFill>
                        </a:rPr>
                        <a:t>Target (projection)</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300" i="1" dirty="0">
                          <a:solidFill>
                            <a:srgbClr val="B3561A"/>
                          </a:solidFill>
                        </a:rPr>
                        <a:t>[add]</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c>
                  <a:txBody>
                    <a:bodyPr/>
                    <a:lstStyle/>
                    <a:p>
                      <a:pPr indent="0" marL="0">
                        <a:buNone/>
                      </a:pPr>
                      <a:r>
                        <a:rPr lang="en-US" sz="1300" i="1" dirty="0">
                          <a:solidFill>
                            <a:srgbClr val="B3561A"/>
                          </a:solidFill>
                        </a:rPr>
                        <a:t>[add]</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c>
                  <a:txBody>
                    <a:bodyPr/>
                    <a:lstStyle/>
                    <a:p>
                      <a:pPr indent="0" marL="0">
                        <a:buNone/>
                      </a:pPr>
                      <a:r>
                        <a:rPr lang="en-US" sz="1300" i="1" dirty="0">
                          <a:solidFill>
                            <a:srgbClr val="B3561A"/>
                          </a:solidFill>
                        </a:rPr>
                        <a:t>[add]</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r>
              <a:tr h="566928">
                <a:tc>
                  <a:txBody>
                    <a:bodyPr/>
                    <a:lstStyle/>
                    <a:p>
                      <a:pPr indent="0" marL="0">
                        <a:buNone/>
                      </a:pPr>
                      <a:r>
                        <a:rPr lang="en-US" sz="1400" b="1" dirty="0">
                          <a:solidFill>
                            <a:schemeClr val="tx1"/>
                          </a:solidFill>
                        </a:rPr>
                        <a:t>Actually done</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300" i="1" dirty="0">
                          <a:solidFill>
                            <a:srgbClr val="B3561A"/>
                          </a:solidFill>
                        </a:rPr>
                        <a:t>[add]</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c>
                  <a:txBody>
                    <a:bodyPr/>
                    <a:lstStyle/>
                    <a:p>
                      <a:pPr indent="0" marL="0">
                        <a:buNone/>
                      </a:pPr>
                      <a:r>
                        <a:rPr lang="en-US" sz="1300" i="1" dirty="0">
                          <a:solidFill>
                            <a:srgbClr val="B3561A"/>
                          </a:solidFill>
                        </a:rPr>
                        <a:t>[add]</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c>
                  <a:txBody>
                    <a:bodyPr/>
                    <a:lstStyle/>
                    <a:p>
                      <a:pPr indent="0" marL="0">
                        <a:buNone/>
                      </a:pPr>
                      <a:r>
                        <a:rPr lang="en-US" sz="1300" i="1" dirty="0">
                          <a:solidFill>
                            <a:srgbClr val="B3561A"/>
                          </a:solidFill>
                        </a:rPr>
                        <a:t>[add]</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r>
              <a:tr h="566928">
                <a:tc>
                  <a:txBody>
                    <a:bodyPr/>
                    <a:lstStyle/>
                    <a:p>
                      <a:pPr indent="0" marL="0">
                        <a:buNone/>
                      </a:pPr>
                      <a:r>
                        <a:rPr lang="en-US" sz="1400" b="1" dirty="0">
                          <a:solidFill>
                            <a:schemeClr val="tx1"/>
                          </a:solidFill>
                        </a:rPr>
                        <a:t>Achievement %</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300" i="1" dirty="0">
                          <a:solidFill>
                            <a:srgbClr val="B3561A"/>
                          </a:solidFill>
                        </a:rPr>
                        <a:t>[add]</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c>
                  <a:txBody>
                    <a:bodyPr/>
                    <a:lstStyle/>
                    <a:p>
                      <a:pPr indent="0" marL="0">
                        <a:buNone/>
                      </a:pPr>
                      <a:r>
                        <a:rPr lang="en-US" sz="1300" i="1" dirty="0">
                          <a:solidFill>
                            <a:srgbClr val="B3561A"/>
                          </a:solidFill>
                        </a:rPr>
                        <a:t>[add]</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c>
                  <a:txBody>
                    <a:bodyPr/>
                    <a:lstStyle/>
                    <a:p>
                      <a:pPr indent="0" marL="0">
                        <a:buNone/>
                      </a:pPr>
                      <a:r>
                        <a:rPr lang="en-US" sz="1300" i="1" dirty="0">
                          <a:solidFill>
                            <a:srgbClr val="B3561A"/>
                          </a:solidFill>
                        </a:rPr>
                        <a:t>[add]</a:t>
                      </a:r>
                      <a:endParaRPr lang="en-US" sz="13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r>
              <a:tr h="566928">
                <a:tc>
                  <a:txBody>
                    <a:bodyPr/>
                    <a:lstStyle/>
                    <a:p>
                      <a:pPr indent="0" marL="0">
                        <a:buNone/>
                      </a:pPr>
                      <a:r>
                        <a:rPr lang="en-US" sz="1400" b="1" dirty="0">
                          <a:solidFill>
                            <a:schemeClr val="tx1"/>
                          </a:solidFill>
                        </a:rPr>
                        <a:t>Quarter total</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gridSpan="3">
                  <a:txBody>
                    <a:bodyPr/>
                    <a:lstStyle/>
                    <a:p>
                      <a:pPr indent="0" marL="0">
                        <a:buNone/>
                      </a:pPr>
                      <a:r>
                        <a:rPr lang="en-US" sz="1400" b="1" dirty="0">
                          <a:solidFill>
                            <a:schemeClr val="tx2"/>
                          </a:solidFill>
                        </a:rPr>
                        <a:t>1,109 creatives delivered (Jul–Sep)</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hMerge="1">
                  <a:tcPr/>
                </a:tc>
                <a:tc hMerge="1">
                  <a:tcPr/>
                </a:tc>
              </a:tr>
            </a:tbl>
          </a:graphicData>
        </a:graphic>
      </p:graphicFrame>
      <p:sp>
        <p:nvSpPr>
          <p:cNvPr id="9" name="Data placeholder"/>
          <p:cNvSpPr/>
          <p:nvPr/>
        </p:nvSpPr>
        <p:spPr>
          <a:xfrm>
            <a:off x="6035040" y="4480560"/>
            <a:ext cx="5577840" cy="1645920"/>
          </a:xfrm>
          <a:prstGeom prst="roundRect">
            <a:avLst>
              <a:gd name="adj" fmla="val 5556"/>
            </a:avLst>
          </a:prstGeom>
          <a:solidFill>
            <a:schemeClr val="accent6"/>
          </a:solidFill>
          <a:ln w="19050">
            <a:solidFill>
              <a:schemeClr val="accent1"/>
            </a:solidFill>
            <a:prstDash val="dash"/>
          </a:ln>
        </p:spPr>
      </p:sp>
      <p:sp>
        <p:nvSpPr>
          <p:cNvPr id="10" name="Text 6"/>
          <p:cNvSpPr txBox="1"/>
          <p:nvPr/>
        </p:nvSpPr>
        <p:spPr>
          <a:xfrm>
            <a:off x="6217920" y="4572000"/>
            <a:ext cx="5212080" cy="1463040"/>
          </a:xfrm>
          <a:prstGeom prst="rect">
            <a:avLst/>
          </a:prstGeom>
          <a:noFill/>
          <a:ln/>
        </p:spPr>
        <p:txBody>
          <a:bodyPr wrap="square" lIns="0" tIns="0" rIns="0" bIns="0" rtlCol="0" anchor="ctr"/>
          <a:lstStyle/>
          <a:p>
            <a:pPr indent="0" marL="0">
              <a:buNone/>
            </a:pPr>
            <a:r>
              <a:rPr lang="en-US" sz="1200" b="1" dirty="0">
                <a:solidFill>
                  <a:srgbClr val="B3561A"/>
                </a:solidFill>
              </a:rPr>
              <a:t>TO ADD  </a:t>
            </a:r>
            <a:endParaRPr lang="en-US" sz="1200" dirty="0"/>
          </a:p>
          <a:p>
            <a:pPr indent="0" marL="0">
              <a:buNone/>
            </a:pPr>
            <a:r>
              <a:rPr lang="en-US" sz="1400" i="1" dirty="0">
                <a:solidFill>
                  <a:srgbClr val="B3561A"/>
                </a:solidFill>
              </a:rPr>
              <a:t>Split the creative pivot by month (Jul / Aug / Sep) and add the target for each month. The agenda asks for a month-wise review.</a:t>
            </a:r>
            <a:endParaRPr lang="en-US" sz="12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2800" b="1" dirty="0">
                <a:solidFill>
                  <a:schemeClr val="tx1"/>
                </a:solidFill>
              </a:rPr>
              <a:t>KPI scorecard: projection vs. actually done</a:t>
            </a:r>
            <a:endParaRPr lang="en-US" sz="2800" dirty="0"/>
          </a:p>
        </p:txBody>
      </p:sp>
      <p:sp>
        <p:nvSpPr>
          <p:cNvPr id="3" name="KPI card"/>
          <p:cNvSpPr/>
          <p:nvPr/>
        </p:nvSpPr>
        <p:spPr>
          <a:xfrm>
            <a:off x="548640" y="1371600"/>
            <a:ext cx="3474720" cy="4023360"/>
          </a:xfrm>
          <a:prstGeom prst="roundRect">
            <a:avLst>
              <a:gd name="adj" fmla="val 3158"/>
            </a:avLst>
          </a:prstGeom>
          <a:solidFill>
            <a:schemeClr val="bg1"/>
          </a:solidFill>
          <a:ln w="15875">
            <a:solidFill>
              <a:schemeClr val="tx1"/>
            </a:solidFill>
            <a:prstDash val="solid"/>
          </a:ln>
          <a:effectLst>
            <a:outerShdw sx="100000" sy="100000" kx="0" ky="0" algn="bl" rotWithShape="0" blurRad="76200" dist="38100" dir="5400000">
              <a:srgbClr val="000000">
                <a:alpha val="12000"/>
              </a:srgbClr>
            </a:outerShdw>
          </a:effectLst>
        </p:spPr>
      </p:sp>
      <p:sp>
        <p:nvSpPr>
          <p:cNvPr id="4" name="Window dot"/>
          <p:cNvSpPr/>
          <p:nvPr/>
        </p:nvSpPr>
        <p:spPr>
          <a:xfrm>
            <a:off x="3154680" y="1508760"/>
            <a:ext cx="128016" cy="128016"/>
          </a:xfrm>
          <a:prstGeom prst="ellipse">
            <a:avLst/>
          </a:prstGeom>
          <a:solidFill>
            <a:schemeClr val="tx2"/>
          </a:solidFill>
          <a:ln w="12700">
            <a:solidFill>
              <a:schemeClr val="tx2"/>
            </a:solidFill>
            <a:prstDash val="solid"/>
          </a:ln>
        </p:spPr>
      </p:sp>
      <p:sp>
        <p:nvSpPr>
          <p:cNvPr id="5" name="Window dot"/>
          <p:cNvSpPr/>
          <p:nvPr/>
        </p:nvSpPr>
        <p:spPr>
          <a:xfrm>
            <a:off x="3383280" y="1508760"/>
            <a:ext cx="128016" cy="128016"/>
          </a:xfrm>
          <a:prstGeom prst="ellipse">
            <a:avLst/>
          </a:prstGeom>
          <a:solidFill>
            <a:schemeClr val="accent4"/>
          </a:solidFill>
          <a:ln w="12700">
            <a:solidFill>
              <a:schemeClr val="accent4"/>
            </a:solidFill>
            <a:prstDash val="solid"/>
          </a:ln>
        </p:spPr>
      </p:sp>
      <p:sp>
        <p:nvSpPr>
          <p:cNvPr id="6" name="Window dot"/>
          <p:cNvSpPr/>
          <p:nvPr/>
        </p:nvSpPr>
        <p:spPr>
          <a:xfrm>
            <a:off x="3611880" y="1508760"/>
            <a:ext cx="128016" cy="128016"/>
          </a:xfrm>
          <a:prstGeom prst="ellipse">
            <a:avLst/>
          </a:prstGeom>
          <a:solidFill>
            <a:schemeClr val="accent3"/>
          </a:solidFill>
          <a:ln w="12700">
            <a:solidFill>
              <a:schemeClr val="accent3"/>
            </a:solidFill>
            <a:prstDash val="solid"/>
          </a:ln>
        </p:spPr>
      </p:sp>
      <p:sp>
        <p:nvSpPr>
          <p:cNvPr id="7" name="Chip"/>
          <p:cNvSpPr/>
          <p:nvPr/>
        </p:nvSpPr>
        <p:spPr>
          <a:xfrm>
            <a:off x="777240" y="1691640"/>
            <a:ext cx="1005840" cy="292608"/>
          </a:xfrm>
          <a:prstGeom prst="roundRect">
            <a:avLst>
              <a:gd name="adj" fmla="val 50000"/>
            </a:avLst>
          </a:prstGeom>
          <a:solidFill>
            <a:schemeClr val="tx1"/>
          </a:solidFill>
          <a:ln w="12700">
            <a:solidFill>
              <a:schemeClr val="tx1"/>
            </a:solidFill>
            <a:prstDash val="solid"/>
          </a:ln>
        </p:spPr>
      </p:sp>
      <p:sp>
        <p:nvSpPr>
          <p:cNvPr id="8" name="Text 6"/>
          <p:cNvSpPr txBox="1"/>
          <p:nvPr/>
        </p:nvSpPr>
        <p:spPr>
          <a:xfrm>
            <a:off x="777240" y="1691640"/>
            <a:ext cx="1005840" cy="292608"/>
          </a:xfrm>
          <a:prstGeom prst="rect">
            <a:avLst/>
          </a:prstGeom>
          <a:noFill/>
          <a:ln/>
        </p:spPr>
        <p:txBody>
          <a:bodyPr wrap="square" lIns="0" tIns="0" rIns="0" bIns="0" rtlCol="0" anchor="ctr"/>
          <a:lstStyle/>
          <a:p>
            <a:pPr algn="ctr" indent="0" marL="0">
              <a:buNone/>
            </a:pPr>
            <a:r>
              <a:rPr lang="en-US" sz="1100" b="1" dirty="0">
                <a:solidFill>
                  <a:schemeClr val="bg1"/>
                </a:solidFill>
              </a:rPr>
              <a:t>Weight 25%</a:t>
            </a:r>
            <a:endParaRPr lang="en-US" sz="1100" dirty="0"/>
          </a:p>
        </p:txBody>
      </p:sp>
      <p:sp>
        <p:nvSpPr>
          <p:cNvPr id="9" name="Text 7"/>
          <p:cNvSpPr txBox="1"/>
          <p:nvPr/>
        </p:nvSpPr>
        <p:spPr>
          <a:xfrm>
            <a:off x="777240" y="2103120"/>
            <a:ext cx="3017520" cy="640080"/>
          </a:xfrm>
          <a:prstGeom prst="rect">
            <a:avLst/>
          </a:prstGeom>
          <a:noFill/>
          <a:ln/>
        </p:spPr>
        <p:txBody>
          <a:bodyPr wrap="square" lIns="0" tIns="0" rIns="0" bIns="0" rtlCol="0" anchor="t"/>
          <a:lstStyle/>
          <a:p>
            <a:pPr indent="0" marL="0">
              <a:buNone/>
            </a:pPr>
            <a:r>
              <a:rPr lang="en-US" sz="1700" b="1" dirty="0">
                <a:solidFill>
                  <a:schemeClr val="tx1"/>
                </a:solidFill>
              </a:rPr>
              <a:t>On-Time Project Delivery</a:t>
            </a:r>
            <a:endParaRPr lang="en-US" sz="1700" dirty="0"/>
          </a:p>
        </p:txBody>
      </p:sp>
      <p:sp>
        <p:nvSpPr>
          <p:cNvPr id="10" name="Text 8"/>
          <p:cNvSpPr txBox="1"/>
          <p:nvPr/>
        </p:nvSpPr>
        <p:spPr>
          <a:xfrm>
            <a:off x="777240" y="2743200"/>
            <a:ext cx="2194560" cy="868680"/>
          </a:xfrm>
          <a:prstGeom prst="rect">
            <a:avLst/>
          </a:prstGeom>
          <a:noFill/>
          <a:ln/>
        </p:spPr>
        <p:txBody>
          <a:bodyPr wrap="square" lIns="0" tIns="0" rIns="0" bIns="0" rtlCol="0" anchor="ctr"/>
          <a:lstStyle/>
          <a:p>
            <a:pPr indent="0" marL="0">
              <a:buNone/>
            </a:pPr>
            <a:r>
              <a:rPr lang="en-US" sz="4800" b="1" dirty="0">
                <a:solidFill>
                  <a:schemeClr val="accent1"/>
                </a:solidFill>
              </a:rPr>
              <a:t>75%</a:t>
            </a:r>
            <a:endParaRPr lang="en-US" sz="4800" dirty="0"/>
          </a:p>
        </p:txBody>
      </p:sp>
      <p:sp>
        <p:nvSpPr>
          <p:cNvPr id="11" name="Chip"/>
          <p:cNvSpPr/>
          <p:nvPr/>
        </p:nvSpPr>
        <p:spPr>
          <a:xfrm>
            <a:off x="2880360" y="3017520"/>
            <a:ext cx="868680" cy="292608"/>
          </a:xfrm>
          <a:prstGeom prst="roundRect">
            <a:avLst>
              <a:gd name="adj" fmla="val 50000"/>
            </a:avLst>
          </a:prstGeom>
          <a:solidFill>
            <a:schemeClr val="accent4"/>
          </a:solidFill>
          <a:ln w="12700">
            <a:solidFill>
              <a:schemeClr val="accent4"/>
            </a:solidFill>
            <a:prstDash val="solid"/>
          </a:ln>
        </p:spPr>
      </p:sp>
      <p:sp>
        <p:nvSpPr>
          <p:cNvPr id="12" name="Text 10"/>
          <p:cNvSpPr txBox="1"/>
          <p:nvPr/>
        </p:nvSpPr>
        <p:spPr>
          <a:xfrm>
            <a:off x="2880360" y="3017520"/>
            <a:ext cx="868680" cy="292608"/>
          </a:xfrm>
          <a:prstGeom prst="rect">
            <a:avLst/>
          </a:prstGeom>
          <a:noFill/>
          <a:ln/>
        </p:spPr>
        <p:txBody>
          <a:bodyPr wrap="square" lIns="0" tIns="0" rIns="0" bIns="0" rtlCol="0" anchor="ctr"/>
          <a:lstStyle/>
          <a:p>
            <a:pPr algn="ctr" indent="0" marL="0">
              <a:buNone/>
            </a:pPr>
            <a:r>
              <a:rPr lang="en-US" sz="1100" b="1" dirty="0">
                <a:solidFill>
                  <a:schemeClr val="tx1"/>
                </a:solidFill>
              </a:rPr>
              <a:t>Amber</a:t>
            </a:r>
            <a:endParaRPr lang="en-US" sz="1100" dirty="0"/>
          </a:p>
        </p:txBody>
      </p:sp>
      <p:sp>
        <p:nvSpPr>
          <p:cNvPr id="13" name="Text 11"/>
          <p:cNvSpPr txBox="1"/>
          <p:nvPr/>
        </p:nvSpPr>
        <p:spPr>
          <a:xfrm>
            <a:off x="777240" y="3611880"/>
            <a:ext cx="3017520" cy="502920"/>
          </a:xfrm>
          <a:prstGeom prst="rect">
            <a:avLst/>
          </a:prstGeom>
          <a:noFill/>
          <a:ln/>
        </p:spPr>
        <p:txBody>
          <a:bodyPr wrap="square" lIns="0" tIns="0" rIns="0" bIns="0" rtlCol="0" anchor="ctr"/>
          <a:lstStyle/>
          <a:p>
            <a:pPr indent="0" marL="0">
              <a:buNone/>
            </a:pPr>
            <a:r>
              <a:rPr lang="en-US" sz="1300" dirty="0">
                <a:solidFill>
                  <a:schemeClr val="accent5"/>
                </a:solidFill>
              </a:rPr>
              <a:t>6 of 8 projects delivered on time</a:t>
            </a:r>
            <a:endParaRPr lang="en-US" sz="1300" dirty="0"/>
          </a:p>
        </p:txBody>
      </p:sp>
      <p:sp>
        <p:nvSpPr>
          <p:cNvPr id="14" name="Progress track"/>
          <p:cNvSpPr/>
          <p:nvPr/>
        </p:nvSpPr>
        <p:spPr>
          <a:xfrm>
            <a:off x="777240" y="4251960"/>
            <a:ext cx="3017520" cy="201168"/>
          </a:xfrm>
          <a:prstGeom prst="roundRect">
            <a:avLst>
              <a:gd name="adj" fmla="val 50000"/>
            </a:avLst>
          </a:prstGeom>
          <a:solidFill>
            <a:schemeClr val="bg2"/>
          </a:solidFill>
          <a:ln w="12700">
            <a:solidFill>
              <a:schemeClr val="bg2"/>
            </a:solidFill>
            <a:prstDash val="solid"/>
          </a:ln>
        </p:spPr>
      </p:sp>
      <p:sp>
        <p:nvSpPr>
          <p:cNvPr id="15" name="Progress fill"/>
          <p:cNvSpPr/>
          <p:nvPr/>
        </p:nvSpPr>
        <p:spPr>
          <a:xfrm>
            <a:off x="777240" y="4251960"/>
            <a:ext cx="2263140" cy="201168"/>
          </a:xfrm>
          <a:prstGeom prst="roundRect">
            <a:avLst>
              <a:gd name="adj" fmla="val 50000"/>
            </a:avLst>
          </a:prstGeom>
          <a:solidFill>
            <a:schemeClr val="accent4"/>
          </a:solidFill>
          <a:ln w="12700">
            <a:solidFill>
              <a:schemeClr val="accent4"/>
            </a:solidFill>
            <a:prstDash val="solid"/>
          </a:ln>
        </p:spPr>
      </p:sp>
      <p:sp>
        <p:nvSpPr>
          <p:cNvPr id="16" name="Text 14"/>
          <p:cNvSpPr txBox="1"/>
          <p:nvPr/>
        </p:nvSpPr>
        <p:spPr>
          <a:xfrm>
            <a:off x="777240" y="4754880"/>
            <a:ext cx="3017520" cy="365760"/>
          </a:xfrm>
          <a:prstGeom prst="rect">
            <a:avLst/>
          </a:prstGeom>
          <a:noFill/>
          <a:ln/>
        </p:spPr>
        <p:txBody>
          <a:bodyPr wrap="square" lIns="0" tIns="0" rIns="0" bIns="0" rtlCol="0" anchor="ctr"/>
          <a:lstStyle/>
          <a:p>
            <a:pPr indent="0" marL="0">
              <a:buNone/>
            </a:pPr>
            <a:r>
              <a:rPr lang="en-US" sz="1100" i="1" dirty="0">
                <a:solidFill>
                  <a:schemeClr val="accent5"/>
                </a:solidFill>
              </a:rPr>
              <a:t>Source: PixDo / project tracker</a:t>
            </a:r>
            <a:endParaRPr lang="en-US" sz="1100" dirty="0"/>
          </a:p>
        </p:txBody>
      </p:sp>
      <p:sp>
        <p:nvSpPr>
          <p:cNvPr id="17" name="KPI card"/>
          <p:cNvSpPr/>
          <p:nvPr/>
        </p:nvSpPr>
        <p:spPr>
          <a:xfrm>
            <a:off x="4297680" y="1371600"/>
            <a:ext cx="3474720" cy="4023360"/>
          </a:xfrm>
          <a:prstGeom prst="roundRect">
            <a:avLst>
              <a:gd name="adj" fmla="val 3158"/>
            </a:avLst>
          </a:prstGeom>
          <a:solidFill>
            <a:schemeClr val="bg1"/>
          </a:solidFill>
          <a:ln w="15875">
            <a:solidFill>
              <a:schemeClr val="tx1"/>
            </a:solidFill>
            <a:prstDash val="solid"/>
          </a:ln>
          <a:effectLst>
            <a:outerShdw sx="100000" sy="100000" kx="0" ky="0" algn="bl" rotWithShape="0" blurRad="76200" dist="38100" dir="5400000">
              <a:srgbClr val="000000">
                <a:alpha val="12000"/>
              </a:srgbClr>
            </a:outerShdw>
          </a:effectLst>
        </p:spPr>
      </p:sp>
      <p:sp>
        <p:nvSpPr>
          <p:cNvPr id="18" name="Window dot"/>
          <p:cNvSpPr/>
          <p:nvPr/>
        </p:nvSpPr>
        <p:spPr>
          <a:xfrm>
            <a:off x="6903720" y="1508760"/>
            <a:ext cx="128016" cy="128016"/>
          </a:xfrm>
          <a:prstGeom prst="ellipse">
            <a:avLst/>
          </a:prstGeom>
          <a:solidFill>
            <a:schemeClr val="tx2"/>
          </a:solidFill>
          <a:ln w="12700">
            <a:solidFill>
              <a:schemeClr val="tx2"/>
            </a:solidFill>
            <a:prstDash val="solid"/>
          </a:ln>
        </p:spPr>
      </p:sp>
      <p:sp>
        <p:nvSpPr>
          <p:cNvPr id="19" name="Window dot"/>
          <p:cNvSpPr/>
          <p:nvPr/>
        </p:nvSpPr>
        <p:spPr>
          <a:xfrm>
            <a:off x="7132320" y="1508760"/>
            <a:ext cx="128016" cy="128016"/>
          </a:xfrm>
          <a:prstGeom prst="ellipse">
            <a:avLst/>
          </a:prstGeom>
          <a:solidFill>
            <a:schemeClr val="accent4"/>
          </a:solidFill>
          <a:ln w="12700">
            <a:solidFill>
              <a:schemeClr val="accent4"/>
            </a:solidFill>
            <a:prstDash val="solid"/>
          </a:ln>
        </p:spPr>
      </p:sp>
      <p:sp>
        <p:nvSpPr>
          <p:cNvPr id="20" name="Window dot"/>
          <p:cNvSpPr/>
          <p:nvPr/>
        </p:nvSpPr>
        <p:spPr>
          <a:xfrm>
            <a:off x="7360920" y="1508760"/>
            <a:ext cx="128016" cy="128016"/>
          </a:xfrm>
          <a:prstGeom prst="ellipse">
            <a:avLst/>
          </a:prstGeom>
          <a:solidFill>
            <a:schemeClr val="accent3"/>
          </a:solidFill>
          <a:ln w="12700">
            <a:solidFill>
              <a:schemeClr val="accent3"/>
            </a:solidFill>
            <a:prstDash val="solid"/>
          </a:ln>
        </p:spPr>
      </p:sp>
      <p:sp>
        <p:nvSpPr>
          <p:cNvPr id="21" name="Chip"/>
          <p:cNvSpPr/>
          <p:nvPr/>
        </p:nvSpPr>
        <p:spPr>
          <a:xfrm>
            <a:off x="4526280" y="1691640"/>
            <a:ext cx="1005840" cy="292608"/>
          </a:xfrm>
          <a:prstGeom prst="roundRect">
            <a:avLst>
              <a:gd name="adj" fmla="val 50000"/>
            </a:avLst>
          </a:prstGeom>
          <a:solidFill>
            <a:schemeClr val="tx1"/>
          </a:solidFill>
          <a:ln w="12700">
            <a:solidFill>
              <a:schemeClr val="tx1"/>
            </a:solidFill>
            <a:prstDash val="solid"/>
          </a:ln>
        </p:spPr>
      </p:sp>
      <p:sp>
        <p:nvSpPr>
          <p:cNvPr id="22" name="Text 20"/>
          <p:cNvSpPr txBox="1"/>
          <p:nvPr/>
        </p:nvSpPr>
        <p:spPr>
          <a:xfrm>
            <a:off x="4526280" y="1691640"/>
            <a:ext cx="1005840" cy="292608"/>
          </a:xfrm>
          <a:prstGeom prst="rect">
            <a:avLst/>
          </a:prstGeom>
          <a:noFill/>
          <a:ln/>
        </p:spPr>
        <p:txBody>
          <a:bodyPr wrap="square" lIns="0" tIns="0" rIns="0" bIns="0" rtlCol="0" anchor="ctr"/>
          <a:lstStyle/>
          <a:p>
            <a:pPr algn="ctr" indent="0" marL="0">
              <a:buNone/>
            </a:pPr>
            <a:r>
              <a:rPr lang="en-US" sz="1100" b="1" dirty="0">
                <a:solidFill>
                  <a:schemeClr val="bg1"/>
                </a:solidFill>
              </a:rPr>
              <a:t>Weight 30%</a:t>
            </a:r>
            <a:endParaRPr lang="en-US" sz="1100" dirty="0"/>
          </a:p>
        </p:txBody>
      </p:sp>
      <p:sp>
        <p:nvSpPr>
          <p:cNvPr id="23" name="Text 21"/>
          <p:cNvSpPr txBox="1"/>
          <p:nvPr/>
        </p:nvSpPr>
        <p:spPr>
          <a:xfrm>
            <a:off x="4526280" y="2103120"/>
            <a:ext cx="3017520" cy="640080"/>
          </a:xfrm>
          <a:prstGeom prst="rect">
            <a:avLst/>
          </a:prstGeom>
          <a:noFill/>
          <a:ln/>
        </p:spPr>
        <p:txBody>
          <a:bodyPr wrap="square" lIns="0" tIns="0" rIns="0" bIns="0" rtlCol="0" anchor="t"/>
          <a:lstStyle/>
          <a:p>
            <a:pPr indent="0" marL="0">
              <a:buNone/>
            </a:pPr>
            <a:r>
              <a:rPr lang="en-US" sz="1700" b="1" dirty="0">
                <a:solidFill>
                  <a:schemeClr val="tx1"/>
                </a:solidFill>
              </a:rPr>
              <a:t>Design &amp; Creatives outcomes</a:t>
            </a:r>
            <a:endParaRPr lang="en-US" sz="1700" dirty="0"/>
          </a:p>
        </p:txBody>
      </p:sp>
      <p:sp>
        <p:nvSpPr>
          <p:cNvPr id="24" name="Text 22"/>
          <p:cNvSpPr txBox="1"/>
          <p:nvPr/>
        </p:nvSpPr>
        <p:spPr>
          <a:xfrm>
            <a:off x="4526280" y="2743200"/>
            <a:ext cx="2194560" cy="868680"/>
          </a:xfrm>
          <a:prstGeom prst="rect">
            <a:avLst/>
          </a:prstGeom>
          <a:noFill/>
          <a:ln/>
        </p:spPr>
        <p:txBody>
          <a:bodyPr wrap="square" lIns="0" tIns="0" rIns="0" bIns="0" rtlCol="0" anchor="ctr"/>
          <a:lstStyle/>
          <a:p>
            <a:pPr indent="0" marL="0">
              <a:buNone/>
            </a:pPr>
            <a:r>
              <a:rPr lang="en-US" sz="4800" b="1" dirty="0">
                <a:solidFill>
                  <a:schemeClr val="tx2"/>
                </a:solidFill>
              </a:rPr>
              <a:t>150%</a:t>
            </a:r>
            <a:endParaRPr lang="en-US" sz="4800" dirty="0"/>
          </a:p>
        </p:txBody>
      </p:sp>
      <p:sp>
        <p:nvSpPr>
          <p:cNvPr id="25" name="Chip"/>
          <p:cNvSpPr/>
          <p:nvPr/>
        </p:nvSpPr>
        <p:spPr>
          <a:xfrm>
            <a:off x="6629400" y="3017520"/>
            <a:ext cx="868680" cy="292608"/>
          </a:xfrm>
          <a:prstGeom prst="roundRect">
            <a:avLst>
              <a:gd name="adj" fmla="val 50000"/>
            </a:avLst>
          </a:prstGeom>
          <a:solidFill>
            <a:schemeClr val="tx2"/>
          </a:solidFill>
          <a:ln w="12700">
            <a:solidFill>
              <a:schemeClr val="tx2"/>
            </a:solidFill>
            <a:prstDash val="solid"/>
          </a:ln>
        </p:spPr>
      </p:sp>
      <p:sp>
        <p:nvSpPr>
          <p:cNvPr id="26" name="Text 24"/>
          <p:cNvSpPr txBox="1"/>
          <p:nvPr/>
        </p:nvSpPr>
        <p:spPr>
          <a:xfrm>
            <a:off x="6629400" y="3017520"/>
            <a:ext cx="868680" cy="292608"/>
          </a:xfrm>
          <a:prstGeom prst="rect">
            <a:avLst/>
          </a:prstGeom>
          <a:noFill/>
          <a:ln/>
        </p:spPr>
        <p:txBody>
          <a:bodyPr wrap="square" lIns="0" tIns="0" rIns="0" bIns="0" rtlCol="0" anchor="ctr"/>
          <a:lstStyle/>
          <a:p>
            <a:pPr algn="ctr" indent="0" marL="0">
              <a:buNone/>
            </a:pPr>
            <a:r>
              <a:rPr lang="en-US" sz="1100" b="1" dirty="0">
                <a:solidFill>
                  <a:schemeClr val="bg1"/>
                </a:solidFill>
              </a:rPr>
              <a:t>Green</a:t>
            </a:r>
            <a:endParaRPr lang="en-US" sz="1100" dirty="0"/>
          </a:p>
        </p:txBody>
      </p:sp>
      <p:sp>
        <p:nvSpPr>
          <p:cNvPr id="27" name="Text 25"/>
          <p:cNvSpPr txBox="1"/>
          <p:nvPr/>
        </p:nvSpPr>
        <p:spPr>
          <a:xfrm>
            <a:off x="4526280" y="3611880"/>
            <a:ext cx="3017520" cy="502920"/>
          </a:xfrm>
          <a:prstGeom prst="rect">
            <a:avLst/>
          </a:prstGeom>
          <a:noFill/>
          <a:ln/>
        </p:spPr>
        <p:txBody>
          <a:bodyPr wrap="square" lIns="0" tIns="0" rIns="0" bIns="0" rtlCol="0" anchor="ctr"/>
          <a:lstStyle/>
          <a:p>
            <a:pPr indent="0" marL="0">
              <a:buNone/>
            </a:pPr>
            <a:r>
              <a:rPr lang="en-US" sz="1300" dirty="0">
                <a:solidFill>
                  <a:schemeClr val="accent5"/>
                </a:solidFill>
              </a:rPr>
              <a:t>841 units vs. 561 in retainer scope*</a:t>
            </a:r>
            <a:endParaRPr lang="en-US" sz="1300" dirty="0"/>
          </a:p>
        </p:txBody>
      </p:sp>
      <p:sp>
        <p:nvSpPr>
          <p:cNvPr id="28" name="Progress track"/>
          <p:cNvSpPr/>
          <p:nvPr/>
        </p:nvSpPr>
        <p:spPr>
          <a:xfrm>
            <a:off x="4526280" y="4251960"/>
            <a:ext cx="3017520" cy="201168"/>
          </a:xfrm>
          <a:prstGeom prst="roundRect">
            <a:avLst>
              <a:gd name="adj" fmla="val 50000"/>
            </a:avLst>
          </a:prstGeom>
          <a:solidFill>
            <a:schemeClr val="bg2"/>
          </a:solidFill>
          <a:ln w="12700">
            <a:solidFill>
              <a:schemeClr val="bg2"/>
            </a:solidFill>
            <a:prstDash val="solid"/>
          </a:ln>
        </p:spPr>
      </p:sp>
      <p:sp>
        <p:nvSpPr>
          <p:cNvPr id="29" name="Progress fill"/>
          <p:cNvSpPr/>
          <p:nvPr/>
        </p:nvSpPr>
        <p:spPr>
          <a:xfrm>
            <a:off x="4526280" y="4251960"/>
            <a:ext cx="3017520" cy="201168"/>
          </a:xfrm>
          <a:prstGeom prst="roundRect">
            <a:avLst>
              <a:gd name="adj" fmla="val 50000"/>
            </a:avLst>
          </a:prstGeom>
          <a:solidFill>
            <a:schemeClr val="tx2"/>
          </a:solidFill>
          <a:ln w="12700">
            <a:solidFill>
              <a:schemeClr val="tx2"/>
            </a:solidFill>
            <a:prstDash val="solid"/>
          </a:ln>
        </p:spPr>
      </p:sp>
      <p:sp>
        <p:nvSpPr>
          <p:cNvPr id="30" name="Text 28"/>
          <p:cNvSpPr txBox="1"/>
          <p:nvPr/>
        </p:nvSpPr>
        <p:spPr>
          <a:xfrm>
            <a:off x="4526280" y="4754880"/>
            <a:ext cx="3017520" cy="365760"/>
          </a:xfrm>
          <a:prstGeom prst="rect">
            <a:avLst/>
          </a:prstGeom>
          <a:noFill/>
          <a:ln/>
        </p:spPr>
        <p:txBody>
          <a:bodyPr wrap="square" lIns="0" tIns="0" rIns="0" bIns="0" rtlCol="0" anchor="ctr"/>
          <a:lstStyle/>
          <a:p>
            <a:pPr indent="0" marL="0">
              <a:buNone/>
            </a:pPr>
            <a:r>
              <a:rPr lang="en-US" sz="1100" i="1" dirty="0">
                <a:solidFill>
                  <a:schemeClr val="accent5"/>
                </a:solidFill>
              </a:rPr>
              <a:t>Source: Branding Team Scrum Tracker</a:t>
            </a:r>
            <a:endParaRPr lang="en-US" sz="1100" dirty="0"/>
          </a:p>
        </p:txBody>
      </p:sp>
      <p:sp>
        <p:nvSpPr>
          <p:cNvPr id="31" name="Attendance KPI card"/>
          <p:cNvSpPr/>
          <p:nvPr/>
        </p:nvSpPr>
        <p:spPr>
          <a:xfrm>
            <a:off x="8046720" y="1371600"/>
            <a:ext cx="3566160" cy="4023360"/>
          </a:xfrm>
          <a:prstGeom prst="roundRect">
            <a:avLst>
              <a:gd name="adj" fmla="val 3077"/>
            </a:avLst>
          </a:prstGeom>
          <a:solidFill>
            <a:schemeClr val="bg1"/>
          </a:solidFill>
          <a:ln w="15875">
            <a:solidFill>
              <a:schemeClr val="tx1"/>
            </a:solidFill>
            <a:prstDash val="solid"/>
          </a:ln>
          <a:effectLst>
            <a:outerShdw sx="100000" sy="100000" kx="0" ky="0" algn="bl" rotWithShape="0" blurRad="76200" dist="38100" dir="5400000">
              <a:srgbClr val="000000">
                <a:alpha val="12000"/>
              </a:srgbClr>
            </a:outerShdw>
          </a:effectLst>
        </p:spPr>
      </p:sp>
      <p:sp>
        <p:nvSpPr>
          <p:cNvPr id="32" name="Window dot"/>
          <p:cNvSpPr/>
          <p:nvPr/>
        </p:nvSpPr>
        <p:spPr>
          <a:xfrm>
            <a:off x="10744200" y="1508760"/>
            <a:ext cx="128016" cy="128016"/>
          </a:xfrm>
          <a:prstGeom prst="ellipse">
            <a:avLst/>
          </a:prstGeom>
          <a:solidFill>
            <a:schemeClr val="tx2"/>
          </a:solidFill>
          <a:ln w="12700">
            <a:solidFill>
              <a:schemeClr val="tx2"/>
            </a:solidFill>
            <a:prstDash val="solid"/>
          </a:ln>
        </p:spPr>
      </p:sp>
      <p:sp>
        <p:nvSpPr>
          <p:cNvPr id="33" name="Window dot"/>
          <p:cNvSpPr/>
          <p:nvPr/>
        </p:nvSpPr>
        <p:spPr>
          <a:xfrm>
            <a:off x="10972800" y="1508760"/>
            <a:ext cx="128016" cy="128016"/>
          </a:xfrm>
          <a:prstGeom prst="ellipse">
            <a:avLst/>
          </a:prstGeom>
          <a:solidFill>
            <a:schemeClr val="accent4"/>
          </a:solidFill>
          <a:ln w="12700">
            <a:solidFill>
              <a:schemeClr val="accent4"/>
            </a:solidFill>
            <a:prstDash val="solid"/>
          </a:ln>
        </p:spPr>
      </p:sp>
      <p:sp>
        <p:nvSpPr>
          <p:cNvPr id="34" name="Window dot"/>
          <p:cNvSpPr/>
          <p:nvPr/>
        </p:nvSpPr>
        <p:spPr>
          <a:xfrm>
            <a:off x="11201400" y="1508760"/>
            <a:ext cx="128016" cy="128016"/>
          </a:xfrm>
          <a:prstGeom prst="ellipse">
            <a:avLst/>
          </a:prstGeom>
          <a:solidFill>
            <a:schemeClr val="accent3"/>
          </a:solidFill>
          <a:ln w="12700">
            <a:solidFill>
              <a:schemeClr val="accent3"/>
            </a:solidFill>
            <a:prstDash val="solid"/>
          </a:ln>
        </p:spPr>
      </p:sp>
      <p:sp>
        <p:nvSpPr>
          <p:cNvPr id="35" name="Chip"/>
          <p:cNvSpPr/>
          <p:nvPr/>
        </p:nvSpPr>
        <p:spPr>
          <a:xfrm>
            <a:off x="8275320" y="1691640"/>
            <a:ext cx="1005840" cy="292608"/>
          </a:xfrm>
          <a:prstGeom prst="roundRect">
            <a:avLst>
              <a:gd name="adj" fmla="val 50000"/>
            </a:avLst>
          </a:prstGeom>
          <a:solidFill>
            <a:schemeClr val="tx1"/>
          </a:solidFill>
          <a:ln w="12700">
            <a:solidFill>
              <a:schemeClr val="tx1"/>
            </a:solidFill>
            <a:prstDash val="solid"/>
          </a:ln>
        </p:spPr>
      </p:sp>
      <p:sp>
        <p:nvSpPr>
          <p:cNvPr id="36" name="Text 34"/>
          <p:cNvSpPr txBox="1"/>
          <p:nvPr/>
        </p:nvSpPr>
        <p:spPr>
          <a:xfrm>
            <a:off x="8275320" y="1691640"/>
            <a:ext cx="1005840" cy="292608"/>
          </a:xfrm>
          <a:prstGeom prst="rect">
            <a:avLst/>
          </a:prstGeom>
          <a:noFill/>
          <a:ln/>
        </p:spPr>
        <p:txBody>
          <a:bodyPr wrap="square" lIns="0" tIns="0" rIns="0" bIns="0" rtlCol="0" anchor="ctr"/>
          <a:lstStyle/>
          <a:p>
            <a:pPr algn="ctr" indent="0" marL="0">
              <a:buNone/>
            </a:pPr>
            <a:r>
              <a:rPr lang="en-US" sz="1100" b="1" dirty="0">
                <a:solidFill>
                  <a:schemeClr val="bg1"/>
                </a:solidFill>
              </a:rPr>
              <a:t>Weight 5%</a:t>
            </a:r>
            <a:endParaRPr lang="en-US" sz="1100" dirty="0"/>
          </a:p>
        </p:txBody>
      </p:sp>
      <p:sp>
        <p:nvSpPr>
          <p:cNvPr id="37" name="Text 35"/>
          <p:cNvSpPr txBox="1"/>
          <p:nvPr/>
        </p:nvSpPr>
        <p:spPr>
          <a:xfrm>
            <a:off x="8275320" y="2103120"/>
            <a:ext cx="3108960" cy="640080"/>
          </a:xfrm>
          <a:prstGeom prst="rect">
            <a:avLst/>
          </a:prstGeom>
          <a:noFill/>
          <a:ln/>
        </p:spPr>
        <p:txBody>
          <a:bodyPr wrap="square" lIns="0" tIns="0" rIns="0" bIns="0" rtlCol="0" anchor="t"/>
          <a:lstStyle/>
          <a:p>
            <a:pPr indent="0" marL="0">
              <a:buNone/>
            </a:pPr>
            <a:r>
              <a:rPr lang="en-US" sz="1700" b="1" dirty="0">
                <a:solidFill>
                  <a:schemeClr val="tx1"/>
                </a:solidFill>
              </a:rPr>
              <a:t>Attendance / Production days</a:t>
            </a:r>
            <a:endParaRPr lang="en-US" sz="1700" dirty="0"/>
          </a:p>
        </p:txBody>
      </p:sp>
      <p:sp>
        <p:nvSpPr>
          <p:cNvPr id="38" name="Data placeholder"/>
          <p:cNvSpPr/>
          <p:nvPr/>
        </p:nvSpPr>
        <p:spPr>
          <a:xfrm>
            <a:off x="8275320" y="2788920"/>
            <a:ext cx="3108960" cy="2331720"/>
          </a:xfrm>
          <a:prstGeom prst="roundRect">
            <a:avLst>
              <a:gd name="adj" fmla="val 3922"/>
            </a:avLst>
          </a:prstGeom>
          <a:solidFill>
            <a:schemeClr val="accent6"/>
          </a:solidFill>
          <a:ln w="19050">
            <a:solidFill>
              <a:schemeClr val="accent1"/>
            </a:solidFill>
            <a:prstDash val="dash"/>
          </a:ln>
        </p:spPr>
      </p:sp>
      <p:sp>
        <p:nvSpPr>
          <p:cNvPr id="39" name="Text 37"/>
          <p:cNvSpPr txBox="1"/>
          <p:nvPr/>
        </p:nvSpPr>
        <p:spPr>
          <a:xfrm>
            <a:off x="8458200" y="2880360"/>
            <a:ext cx="2743200" cy="2148840"/>
          </a:xfrm>
          <a:prstGeom prst="rect">
            <a:avLst/>
          </a:prstGeom>
          <a:noFill/>
          <a:ln/>
        </p:spPr>
        <p:txBody>
          <a:bodyPr wrap="square" lIns="0" tIns="0" rIns="0" bIns="0" rtlCol="0" anchor="ctr"/>
          <a:lstStyle/>
          <a:p>
            <a:pPr indent="0" marL="0">
              <a:buNone/>
            </a:pPr>
            <a:r>
              <a:rPr lang="en-US" sz="1200" b="1" dirty="0">
                <a:solidFill>
                  <a:srgbClr val="B3561A"/>
                </a:solidFill>
              </a:rPr>
              <a:t>TO ADD  </a:t>
            </a:r>
            <a:endParaRPr lang="en-US" sz="1200" dirty="0"/>
          </a:p>
          <a:p>
            <a:pPr indent="0" marL="0">
              <a:buNone/>
            </a:pPr>
            <a:r>
              <a:rPr lang="en-US" sz="1400" i="1" dirty="0">
                <a:solidFill>
                  <a:srgbClr val="B3561A"/>
                </a:solidFill>
              </a:rPr>
              <a:t>Leave days ÷ total working days, from the PixDo leave report.</a:t>
            </a:r>
            <a:endParaRPr lang="en-US" sz="1200" dirty="0"/>
          </a:p>
        </p:txBody>
      </p:sp>
      <p:sp>
        <p:nvSpPr>
          <p:cNvPr id="40" name="Text 38"/>
          <p:cNvSpPr txBox="1"/>
          <p:nvPr/>
        </p:nvSpPr>
        <p:spPr>
          <a:xfrm>
            <a:off x="548640" y="5577840"/>
            <a:ext cx="11064240" cy="548640"/>
          </a:xfrm>
          <a:prstGeom prst="rect">
            <a:avLst/>
          </a:prstGeom>
          <a:noFill/>
          <a:ln/>
        </p:spPr>
        <p:txBody>
          <a:bodyPr wrap="square" lIns="0" tIns="0" rIns="0" bIns="0" rtlCol="0" anchor="ctr"/>
          <a:lstStyle/>
          <a:p>
            <a:pPr indent="0" marL="0">
              <a:buNone/>
            </a:pPr>
            <a:r>
              <a:rPr lang="en-US" sz="1100" i="1" dirty="0">
                <a:solidFill>
                  <a:schemeClr val="accent5"/>
                </a:solidFill>
              </a:rPr>
              <a:t>* Scope = TMB, VGN, Star Health, Maxivision, Athmalaya for 3 months. Counts adaptations; the next slide shows why that matters. Score capped at 100% when weighted.</a:t>
            </a:r>
            <a:endParaRPr lang="en-US" sz="11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2800" b="1" dirty="0">
                <a:solidFill>
                  <a:schemeClr val="tx1"/>
                </a:solidFill>
              </a:rPr>
              <a:t>Retainer delivery vs. scope: one definition decides it</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554480"/>
                <a:gridCol w="1554480"/>
                <a:gridCol w="1325880"/>
                <a:gridCol w="1371600"/>
                <a:gridCol w="1234440"/>
                <a:gridCol w="914400"/>
                <a:gridCol w="1554480"/>
                <a:gridCol w="1554480"/>
              </a:tblGrid>
              <a:tr h="457200">
                <a:tc>
                  <a:txBody>
                    <a:bodyPr/>
                    <a:lstStyle/>
                    <a:p>
                      <a:pPr algn="l" indent="0" marL="0">
                        <a:buNone/>
                      </a:pPr>
                      <a:r>
                        <a:rPr lang="en-US" sz="1300" b="1" dirty="0">
                          <a:solidFill>
                            <a:schemeClr val="bg1"/>
                          </a:solidFill>
                        </a:rPr>
                        <a:t>Retainer</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Scope / month</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JAS scope</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Creatives + masters</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Adaptations</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Total</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 of scope (all)</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 excl. adaptations</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r>
              <a:tr h="457200">
                <a:tc>
                  <a:txBody>
                    <a:bodyPr/>
                    <a:lstStyle/>
                    <a:p>
                      <a:pPr indent="0" marL="0">
                        <a:buNone/>
                      </a:pPr>
                      <a:r>
                        <a:rPr lang="en-US" sz="1300" b="1" dirty="0">
                          <a:solidFill>
                            <a:schemeClr val="tx1"/>
                          </a:solidFill>
                        </a:rPr>
                        <a:t>TMB Bank</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70</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210</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170</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321</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491</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2"/>
                          </a:solidFill>
                        </a:rPr>
                        <a:t>234%</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E3F1E8"/>
                    </a:solidFill>
                  </a:tcPr>
                </a:tc>
                <a:tc>
                  <a:txBody>
                    <a:bodyPr/>
                    <a:lstStyle/>
                    <a:p>
                      <a:pPr algn="ctr" indent="0" marL="0">
                        <a:buNone/>
                      </a:pPr>
                      <a:r>
                        <a:rPr lang="en-US" sz="1300" b="1" dirty="0">
                          <a:solidFill>
                            <a:srgbClr val="B3561A"/>
                          </a:solidFill>
                        </a:rPr>
                        <a:t>81%</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F0CF"/>
                    </a:solidFill>
                  </a:tcPr>
                </a:tc>
              </a:tr>
              <a:tr h="457200">
                <a:tc>
                  <a:txBody>
                    <a:bodyPr/>
                    <a:lstStyle/>
                    <a:p>
                      <a:pPr indent="0" marL="0">
                        <a:buNone/>
                      </a:pPr>
                      <a:r>
                        <a:rPr lang="en-US" sz="1300" b="1" dirty="0">
                          <a:solidFill>
                            <a:schemeClr val="tx1"/>
                          </a:solidFill>
                        </a:rPr>
                        <a:t>VGN Homes</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35</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105</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112</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19</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131</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2"/>
                          </a:solidFill>
                        </a:rPr>
                        <a:t>125%</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E3F1E8"/>
                    </a:solidFill>
                  </a:tcPr>
                </a:tc>
                <a:tc>
                  <a:txBody>
                    <a:bodyPr/>
                    <a:lstStyle/>
                    <a:p>
                      <a:pPr algn="ctr" indent="0" marL="0">
                        <a:buNone/>
                      </a:pPr>
                      <a:r>
                        <a:rPr lang="en-US" sz="1300" b="1" dirty="0">
                          <a:solidFill>
                            <a:schemeClr val="tx2"/>
                          </a:solidFill>
                        </a:rPr>
                        <a:t>107%</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E3F1E8"/>
                    </a:solidFill>
                  </a:tcPr>
                </a:tc>
              </a:tr>
              <a:tr h="457200">
                <a:tc>
                  <a:txBody>
                    <a:bodyPr/>
                    <a:lstStyle/>
                    <a:p>
                      <a:pPr indent="0" marL="0">
                        <a:buNone/>
                      </a:pPr>
                      <a:r>
                        <a:rPr lang="en-US" sz="1300" b="1" dirty="0">
                          <a:solidFill>
                            <a:schemeClr val="tx1"/>
                          </a:solidFill>
                        </a:rPr>
                        <a:t>Star Health</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70 units</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210</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64</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111</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175</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b="1" dirty="0">
                          <a:solidFill>
                            <a:srgbClr val="B3561A"/>
                          </a:solidFill>
                        </a:rPr>
                        <a:t>83%</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F0CF"/>
                    </a:solidFill>
                  </a:tcPr>
                </a:tc>
                <a:tc>
                  <a:txBody>
                    <a:bodyPr/>
                    <a:lstStyle/>
                    <a:p>
                      <a:pPr algn="ctr" indent="0" marL="0">
                        <a:buNone/>
                      </a:pPr>
                      <a:r>
                        <a:rPr lang="en-US" sz="1300" b="1" dirty="0">
                          <a:solidFill>
                            <a:schemeClr val="accent3"/>
                          </a:solidFill>
                        </a:rPr>
                        <a:t>30%</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9DAD3"/>
                    </a:solidFill>
                  </a:tcPr>
                </a:tc>
              </a:tr>
              <a:tr h="457200">
                <a:tc>
                  <a:txBody>
                    <a:bodyPr/>
                    <a:lstStyle/>
                    <a:p>
                      <a:pPr indent="0" marL="0">
                        <a:buNone/>
                      </a:pPr>
                      <a:r>
                        <a:rPr lang="en-US" sz="1300" b="1" dirty="0">
                          <a:solidFill>
                            <a:schemeClr val="tx1"/>
                          </a:solidFill>
                        </a:rPr>
                        <a:t>Maxivision</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6–10</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18–30</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40</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1</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41</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2"/>
                          </a:solidFill>
                        </a:rPr>
                        <a:t>137%</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E3F1E8"/>
                    </a:solidFill>
                  </a:tcPr>
                </a:tc>
                <a:tc>
                  <a:txBody>
                    <a:bodyPr/>
                    <a:lstStyle/>
                    <a:p>
                      <a:pPr algn="ctr" indent="0" marL="0">
                        <a:buNone/>
                      </a:pPr>
                      <a:r>
                        <a:rPr lang="en-US" sz="1300" b="1" dirty="0">
                          <a:solidFill>
                            <a:schemeClr val="tx2"/>
                          </a:solidFill>
                        </a:rPr>
                        <a:t>133%</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E3F1E8"/>
                    </a:solidFill>
                  </a:tcPr>
                </a:tc>
              </a:tr>
              <a:tr h="457200">
                <a:tc>
                  <a:txBody>
                    <a:bodyPr/>
                    <a:lstStyle/>
                    <a:p>
                      <a:pPr indent="0" marL="0">
                        <a:buNone/>
                      </a:pPr>
                      <a:r>
                        <a:rPr lang="en-US" sz="1300" b="1" dirty="0">
                          <a:solidFill>
                            <a:schemeClr val="tx1"/>
                          </a:solidFill>
                        </a:rPr>
                        <a:t>Athmalaya</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2 posts</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6</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3</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3</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3"/>
                          </a:solidFill>
                        </a:rPr>
                        <a:t>50%</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9DAD3"/>
                    </a:solidFill>
                  </a:tcPr>
                </a:tc>
                <a:tc>
                  <a:txBody>
                    <a:bodyPr/>
                    <a:lstStyle/>
                    <a:p>
                      <a:pPr algn="ctr" indent="0" marL="0">
                        <a:buNone/>
                      </a:pPr>
                      <a:r>
                        <a:rPr lang="en-US" sz="1300" b="1" dirty="0">
                          <a:solidFill>
                            <a:schemeClr val="accent3"/>
                          </a:solidFill>
                        </a:rPr>
                        <a:t>50%</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9DAD3"/>
                    </a:solidFill>
                  </a:tcPr>
                </a:tc>
              </a:tr>
              <a:tr h="457200">
                <a:tc>
                  <a:txBody>
                    <a:bodyPr/>
                    <a:lstStyle/>
                    <a:p>
                      <a:pPr indent="0" marL="0">
                        <a:buNone/>
                      </a:pPr>
                      <a:r>
                        <a:rPr lang="en-US" sz="1300" b="1" dirty="0">
                          <a:solidFill>
                            <a:schemeClr val="tx1"/>
                          </a:solidFill>
                        </a:rPr>
                        <a:t>TVS Credit</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4 newsletters / yr</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~1 newsletter</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58</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0</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58</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i="1" dirty="0">
                          <a:solidFill>
                            <a:srgbClr val="B3561A"/>
                          </a:solidFill>
                        </a:rPr>
                        <a:t>confirm unit</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c>
                  <a:txBody>
                    <a:bodyPr/>
                    <a:lstStyle/>
                    <a:p>
                      <a:pPr algn="ctr" indent="0" marL="0">
                        <a:buNone/>
                      </a:pPr>
                      <a:r>
                        <a:rPr lang="en-US" sz="1300" i="1" dirty="0">
                          <a:solidFill>
                            <a:srgbClr val="B3561A"/>
                          </a:solidFill>
                        </a:rPr>
                        <a:t>confirm unit</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r>
            </a:tbl>
          </a:graphicData>
        </a:graphic>
      </p:graphicFrame>
      <p:sp>
        <p:nvSpPr>
          <p:cNvPr id="4" name="Decision callout"/>
          <p:cNvSpPr/>
          <p:nvPr/>
        </p:nvSpPr>
        <p:spPr>
          <a:xfrm>
            <a:off x="548640" y="4800600"/>
            <a:ext cx="11064240" cy="1325880"/>
          </a:xfrm>
          <a:prstGeom prst="roundRect">
            <a:avLst>
              <a:gd name="adj" fmla="val 8276"/>
            </a:avLst>
          </a:prstGeom>
          <a:solidFill>
            <a:schemeClr val="bg1"/>
          </a:solidFill>
          <a:ln w="25400">
            <a:solidFill>
              <a:schemeClr val="accent1"/>
            </a:solidFill>
            <a:prstDash val="solid"/>
          </a:ln>
          <a:effectLst>
            <a:outerShdw sx="100000" sy="100000" kx="0" ky="0" algn="bl" rotWithShape="0" blurRad="76200" dist="38100" dir="5400000">
              <a:srgbClr val="000000">
                <a:alpha val="12000"/>
              </a:srgbClr>
            </a:outerShdw>
          </a:effectLst>
        </p:spPr>
      </p:sp>
      <p:sp>
        <p:nvSpPr>
          <p:cNvPr id="5" name="Icon circle"/>
          <p:cNvSpPr/>
          <p:nvPr/>
        </p:nvSpPr>
        <p:spPr>
          <a:xfrm>
            <a:off x="777240" y="5074920"/>
            <a:ext cx="731520" cy="731520"/>
          </a:xfrm>
          <a:prstGeom prst="ellipse">
            <a:avLst/>
          </a:prstGeom>
          <a:solidFill>
            <a:schemeClr val="accent1"/>
          </a:solidFill>
          <a:ln w="12700">
            <a:solidFill>
              <a:schemeClr val="accent1"/>
            </a:solidFill>
            <a:prstDash val="solid"/>
          </a:ln>
        </p:spPr>
      </p:sp>
      <p:pic>
        <p:nvPicPr>
          <p:cNvPr id="6" name="Image 0" descr="icon">    </p:cNvPr>
          <p:cNvPicPr>
            <a:picLocks noChangeAspect="1"/>
          </p:cNvPicPr>
          <p:nvPr/>
        </p:nvPicPr>
        <p:blipFill>
          <a:blip r:embed="rId1"/>
          <a:stretch>
            <a:fillRect/>
          </a:stretch>
        </p:blipFill>
        <p:spPr>
          <a:xfrm>
            <a:off x="960120" y="5257800"/>
            <a:ext cx="365760" cy="365760"/>
          </a:xfrm>
          <a:prstGeom prst="rect">
            <a:avLst/>
          </a:prstGeom>
        </p:spPr>
      </p:pic>
      <p:sp>
        <p:nvSpPr>
          <p:cNvPr id="7" name="Text 3"/>
          <p:cNvSpPr txBox="1"/>
          <p:nvPr/>
        </p:nvSpPr>
        <p:spPr>
          <a:xfrm>
            <a:off x="1737360" y="4892040"/>
            <a:ext cx="9692640" cy="1143000"/>
          </a:xfrm>
          <a:prstGeom prst="rect">
            <a:avLst/>
          </a:prstGeom>
          <a:noFill/>
          <a:ln/>
        </p:spPr>
        <p:txBody>
          <a:bodyPr wrap="square" lIns="0" tIns="0" rIns="0" bIns="0" rtlCol="0" anchor="ctr"/>
          <a:lstStyle/>
          <a:p>
            <a:pPr indent="0" marL="0">
              <a:buNone/>
            </a:pPr>
            <a:r>
              <a:rPr lang="en-US" sz="1500" b="1" dirty="0">
                <a:solidFill>
                  <a:schemeClr val="tx1"/>
                </a:solidFill>
              </a:rPr>
              <a:t>Decide before presenting: do adaptations count toward retainer scope?  </a:t>
            </a:r>
            <a:pPr indent="0" marL="0">
              <a:buNone/>
            </a:pPr>
            <a:r>
              <a:rPr lang="en-US" sz="1500" dirty="0">
                <a:solidFill>
                  <a:schemeClr val="tx1"/>
                </a:solidFill>
              </a:rPr>
              <a:t>If they do, TMB is at 2.3× scope, which may be unbilled over-delivery. If they don't, TMB is under scope at 81% and Star Health at 30%.</a:t>
            </a:r>
            <a:endParaRPr lang="en-US" sz="15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2800" b="1" dirty="0">
                <a:solidFill>
                  <a:schemeClr val="tx1"/>
                </a:solidFill>
              </a:rPr>
              <a:t>Team output by type: new concepts sit with one person</a:t>
            </a:r>
            <a:endParaRPr lang="en-US" sz="2800" dirty="0"/>
          </a:p>
        </p:txBody>
      </p:sp>
      <p:sp>
        <p:nvSpPr>
          <p:cNvPr id="3" name="Team chart card"/>
          <p:cNvSpPr/>
          <p:nvPr/>
        </p:nvSpPr>
        <p:spPr>
          <a:xfrm>
            <a:off x="548640" y="1371600"/>
            <a:ext cx="6949440" cy="4754880"/>
          </a:xfrm>
          <a:prstGeom prst="roundRect">
            <a:avLst>
              <a:gd name="adj" fmla="val 2308"/>
            </a:avLst>
          </a:prstGeom>
          <a:solidFill>
            <a:schemeClr val="bg1"/>
          </a:solidFill>
          <a:ln w="15875">
            <a:solidFill>
              <a:schemeClr val="tx1"/>
            </a:solidFill>
            <a:prstDash val="solid"/>
          </a:ln>
          <a:effectLst>
            <a:outerShdw sx="100000" sy="100000" kx="0" ky="0" algn="bl" rotWithShape="0" blurRad="76200" dist="38100" dir="5400000">
              <a:srgbClr val="000000">
                <a:alpha val="12000"/>
              </a:srgbClr>
            </a:outerShdw>
          </a:effectLst>
        </p:spPr>
      </p:sp>
      <p:sp>
        <p:nvSpPr>
          <p:cNvPr id="4" name="Window dot"/>
          <p:cNvSpPr/>
          <p:nvPr/>
        </p:nvSpPr>
        <p:spPr>
          <a:xfrm>
            <a:off x="6629400" y="1508760"/>
            <a:ext cx="128016" cy="128016"/>
          </a:xfrm>
          <a:prstGeom prst="ellipse">
            <a:avLst/>
          </a:prstGeom>
          <a:solidFill>
            <a:schemeClr val="tx2"/>
          </a:solidFill>
          <a:ln w="12700">
            <a:solidFill>
              <a:schemeClr val="tx2"/>
            </a:solidFill>
            <a:prstDash val="solid"/>
          </a:ln>
        </p:spPr>
      </p:sp>
      <p:sp>
        <p:nvSpPr>
          <p:cNvPr id="5" name="Window dot"/>
          <p:cNvSpPr/>
          <p:nvPr/>
        </p:nvSpPr>
        <p:spPr>
          <a:xfrm>
            <a:off x="6858000" y="1508760"/>
            <a:ext cx="128016" cy="128016"/>
          </a:xfrm>
          <a:prstGeom prst="ellipse">
            <a:avLst/>
          </a:prstGeom>
          <a:solidFill>
            <a:schemeClr val="accent4"/>
          </a:solidFill>
          <a:ln w="12700">
            <a:solidFill>
              <a:schemeClr val="accent4"/>
            </a:solidFill>
            <a:prstDash val="solid"/>
          </a:ln>
        </p:spPr>
      </p:sp>
      <p:sp>
        <p:nvSpPr>
          <p:cNvPr id="6" name="Window dot"/>
          <p:cNvSpPr/>
          <p:nvPr/>
        </p:nvSpPr>
        <p:spPr>
          <a:xfrm>
            <a:off x="7086600" y="1508760"/>
            <a:ext cx="128016" cy="128016"/>
          </a:xfrm>
          <a:prstGeom prst="ellipse">
            <a:avLst/>
          </a:prstGeom>
          <a:solidFill>
            <a:schemeClr val="accent3"/>
          </a:solidFill>
          <a:ln w="12700">
            <a:solidFill>
              <a:schemeClr val="accent3"/>
            </a:solidFill>
            <a:prstDash val="solid"/>
          </a:ln>
        </p:spPr>
      </p:sp>
      <p:graphicFrame>
        <p:nvGraphicFramePr>
          <p:cNvPr id="7" name="Chart 0" descr=""/>
          <p:cNvGraphicFramePr/>
          <p:nvPr/>
        </p:nvGraphicFramePr>
        <p:xfrm>
          <a:off x="731520" y="169164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8" name="Insight card"/>
          <p:cNvSpPr/>
          <p:nvPr/>
        </p:nvSpPr>
        <p:spPr>
          <a:xfrm>
            <a:off x="7772400" y="1371600"/>
            <a:ext cx="3840480" cy="1463040"/>
          </a:xfrm>
          <a:prstGeom prst="roundRect">
            <a:avLst>
              <a:gd name="adj" fmla="val 7500"/>
            </a:avLst>
          </a:prstGeom>
          <a:solidFill>
            <a:schemeClr val="bg1"/>
          </a:solidFill>
          <a:ln w="15875">
            <a:solidFill>
              <a:schemeClr val="tx1"/>
            </a:solidFill>
            <a:prstDash val="solid"/>
          </a:ln>
          <a:effectLst>
            <a:outerShdw sx="100000" sy="100000" kx="0" ky="0" algn="bl" rotWithShape="0" blurRad="76200" dist="38100" dir="5400000">
              <a:srgbClr val="000000">
                <a:alpha val="12000"/>
              </a:srgbClr>
            </a:outerShdw>
          </a:effectLst>
        </p:spPr>
      </p:sp>
      <p:sp>
        <p:nvSpPr>
          <p:cNvPr id="9" name="Text 6"/>
          <p:cNvSpPr txBox="1"/>
          <p:nvPr/>
        </p:nvSpPr>
        <p:spPr>
          <a:xfrm>
            <a:off x="8001000" y="1554480"/>
            <a:ext cx="1188720" cy="1097280"/>
          </a:xfrm>
          <a:prstGeom prst="rect">
            <a:avLst/>
          </a:prstGeom>
          <a:noFill/>
          <a:ln/>
        </p:spPr>
        <p:txBody>
          <a:bodyPr wrap="square" lIns="0" tIns="0" rIns="0" bIns="0" rtlCol="0" anchor="ctr"/>
          <a:lstStyle/>
          <a:p>
            <a:pPr indent="0" marL="0">
              <a:buNone/>
            </a:pPr>
            <a:r>
              <a:rPr lang="en-US" sz="3000" b="1" dirty="0">
                <a:solidFill>
                  <a:schemeClr val="tx2"/>
                </a:solidFill>
              </a:rPr>
              <a:t>67%</a:t>
            </a:r>
            <a:endParaRPr lang="en-US" sz="3000" dirty="0"/>
          </a:p>
        </p:txBody>
      </p:sp>
      <p:sp>
        <p:nvSpPr>
          <p:cNvPr id="10" name="Text 7"/>
          <p:cNvSpPr txBox="1"/>
          <p:nvPr/>
        </p:nvSpPr>
        <p:spPr>
          <a:xfrm>
            <a:off x="9189720" y="1508760"/>
            <a:ext cx="2286000" cy="1188720"/>
          </a:xfrm>
          <a:prstGeom prst="rect">
            <a:avLst/>
          </a:prstGeom>
          <a:noFill/>
          <a:ln/>
        </p:spPr>
        <p:txBody>
          <a:bodyPr wrap="square" lIns="0" tIns="0" rIns="0" bIns="0" rtlCol="0" anchor="ctr"/>
          <a:lstStyle/>
          <a:p>
            <a:pPr indent="0" marL="0">
              <a:buNone/>
            </a:pPr>
            <a:r>
              <a:rPr lang="en-US" sz="1300" dirty="0">
                <a:solidFill>
                  <a:schemeClr val="tx1"/>
                </a:solidFill>
              </a:rPr>
              <a:t>of master creatives came from Gowtham (70 of 104). Concept work depends on one person.</a:t>
            </a:r>
            <a:endParaRPr lang="en-US" sz="1300" dirty="0"/>
          </a:p>
        </p:txBody>
      </p:sp>
      <p:sp>
        <p:nvSpPr>
          <p:cNvPr id="11" name="Insight card"/>
          <p:cNvSpPr/>
          <p:nvPr/>
        </p:nvSpPr>
        <p:spPr>
          <a:xfrm>
            <a:off x="7772400" y="3017520"/>
            <a:ext cx="3840480" cy="1463040"/>
          </a:xfrm>
          <a:prstGeom prst="roundRect">
            <a:avLst>
              <a:gd name="adj" fmla="val 7500"/>
            </a:avLst>
          </a:prstGeom>
          <a:solidFill>
            <a:schemeClr val="bg1"/>
          </a:solidFill>
          <a:ln w="15875">
            <a:solidFill>
              <a:schemeClr val="tx1"/>
            </a:solidFill>
            <a:prstDash val="solid"/>
          </a:ln>
          <a:effectLst>
            <a:outerShdw sx="100000" sy="100000" kx="0" ky="0" algn="bl" rotWithShape="0" blurRad="76200" dist="38100" dir="5400000">
              <a:srgbClr val="000000">
                <a:alpha val="12000"/>
              </a:srgbClr>
            </a:outerShdw>
          </a:effectLst>
        </p:spPr>
      </p:sp>
      <p:sp>
        <p:nvSpPr>
          <p:cNvPr id="12" name="Text 9"/>
          <p:cNvSpPr txBox="1"/>
          <p:nvPr/>
        </p:nvSpPr>
        <p:spPr>
          <a:xfrm>
            <a:off x="8001000" y="3200400"/>
            <a:ext cx="1188720" cy="1097280"/>
          </a:xfrm>
          <a:prstGeom prst="rect">
            <a:avLst/>
          </a:prstGeom>
          <a:noFill/>
          <a:ln/>
        </p:spPr>
        <p:txBody>
          <a:bodyPr wrap="square" lIns="0" tIns="0" rIns="0" bIns="0" rtlCol="0" anchor="ctr"/>
          <a:lstStyle/>
          <a:p>
            <a:pPr indent="0" marL="0">
              <a:buNone/>
            </a:pPr>
            <a:r>
              <a:rPr lang="en-US" sz="3000" b="1" dirty="0">
                <a:solidFill>
                  <a:schemeClr val="accent1"/>
                </a:solidFill>
              </a:rPr>
              <a:t>76%</a:t>
            </a:r>
            <a:endParaRPr lang="en-US" sz="3000" dirty="0"/>
          </a:p>
        </p:txBody>
      </p:sp>
      <p:sp>
        <p:nvSpPr>
          <p:cNvPr id="13" name="Text 10"/>
          <p:cNvSpPr txBox="1"/>
          <p:nvPr/>
        </p:nvSpPr>
        <p:spPr>
          <a:xfrm>
            <a:off x="9189720" y="3154680"/>
            <a:ext cx="2286000" cy="1188720"/>
          </a:xfrm>
          <a:prstGeom prst="rect">
            <a:avLst/>
          </a:prstGeom>
          <a:noFill/>
          <a:ln/>
        </p:spPr>
        <p:txBody>
          <a:bodyPr wrap="square" lIns="0" tIns="0" rIns="0" bIns="0" rtlCol="0" anchor="ctr"/>
          <a:lstStyle/>
          <a:p>
            <a:pPr indent="0" marL="0">
              <a:buNone/>
            </a:pPr>
            <a:r>
              <a:rPr lang="en-US" sz="1300" dirty="0">
                <a:solidFill>
                  <a:schemeClr val="tx1"/>
                </a:solidFill>
              </a:rPr>
              <a:t>of Keerthana's 399 units are adaptations: the high-volume production line.</a:t>
            </a:r>
            <a:endParaRPr lang="en-US" sz="1300" dirty="0"/>
          </a:p>
        </p:txBody>
      </p:sp>
      <p:sp>
        <p:nvSpPr>
          <p:cNvPr id="14" name="Insight card"/>
          <p:cNvSpPr/>
          <p:nvPr/>
        </p:nvSpPr>
        <p:spPr>
          <a:xfrm>
            <a:off x="7772400" y="4663440"/>
            <a:ext cx="3840480" cy="1463040"/>
          </a:xfrm>
          <a:prstGeom prst="roundRect">
            <a:avLst>
              <a:gd name="adj" fmla="val 7500"/>
            </a:avLst>
          </a:prstGeom>
          <a:solidFill>
            <a:schemeClr val="bg1"/>
          </a:solidFill>
          <a:ln w="15875">
            <a:solidFill>
              <a:schemeClr val="tx1"/>
            </a:solidFill>
            <a:prstDash val="solid"/>
          </a:ln>
          <a:effectLst>
            <a:outerShdw sx="100000" sy="100000" kx="0" ky="0" algn="bl" rotWithShape="0" blurRad="76200" dist="38100" dir="5400000">
              <a:srgbClr val="000000">
                <a:alpha val="12000"/>
              </a:srgbClr>
            </a:outerShdw>
          </a:effectLst>
        </p:spPr>
      </p:sp>
      <p:sp>
        <p:nvSpPr>
          <p:cNvPr id="15" name="Text 12"/>
          <p:cNvSpPr txBox="1"/>
          <p:nvPr/>
        </p:nvSpPr>
        <p:spPr>
          <a:xfrm>
            <a:off x="8001000" y="4846320"/>
            <a:ext cx="1188720" cy="1097280"/>
          </a:xfrm>
          <a:prstGeom prst="rect">
            <a:avLst/>
          </a:prstGeom>
          <a:noFill/>
          <a:ln/>
        </p:spPr>
        <p:txBody>
          <a:bodyPr wrap="square" lIns="0" tIns="0" rIns="0" bIns="0" rtlCol="0" anchor="ctr"/>
          <a:lstStyle/>
          <a:p>
            <a:pPr indent="0" marL="0">
              <a:buNone/>
            </a:pPr>
            <a:r>
              <a:rPr lang="en-US" sz="3000" b="1" dirty="0">
                <a:solidFill>
                  <a:schemeClr val="tx2"/>
                </a:solidFill>
              </a:rPr>
              <a:t>199</a:t>
            </a:r>
            <a:endParaRPr lang="en-US" sz="3000" dirty="0"/>
          </a:p>
        </p:txBody>
      </p:sp>
      <p:sp>
        <p:nvSpPr>
          <p:cNvPr id="16" name="Text 13"/>
          <p:cNvSpPr txBox="1"/>
          <p:nvPr/>
        </p:nvSpPr>
        <p:spPr>
          <a:xfrm>
            <a:off x="9189720" y="4800600"/>
            <a:ext cx="2286000" cy="1188720"/>
          </a:xfrm>
          <a:prstGeom prst="rect">
            <a:avLst/>
          </a:prstGeom>
          <a:noFill/>
          <a:ln/>
        </p:spPr>
        <p:txBody>
          <a:bodyPr wrap="square" lIns="0" tIns="0" rIns="0" bIns="0" rtlCol="0" anchor="ctr"/>
          <a:lstStyle/>
          <a:p>
            <a:pPr indent="0" marL="0">
              <a:buNone/>
            </a:pPr>
            <a:r>
              <a:rPr lang="en-US" sz="1300" dirty="0">
                <a:solidFill>
                  <a:schemeClr val="tx1"/>
                </a:solidFill>
              </a:rPr>
              <a:t>creatives from Naresh, the most of any designer.</a:t>
            </a:r>
            <a:endParaRPr lang="en-US" sz="13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2800" b="1" dirty="0">
                <a:solidFill>
                  <a:schemeClr val="tx1"/>
                </a:solidFill>
              </a:rPr>
              <a:t>Projects in JAS: 6 closed, 2 slipped</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223760" cy="914400"/>
        </p:xfrm>
        <a:graphic>
          <a:graphicData uri="http://schemas.openxmlformats.org/drawingml/2006/table">
            <a:tbl>
              <a:tblPr/>
              <a:tblGrid>
                <a:gridCol w="731520"/>
                <a:gridCol w="1920240"/>
                <a:gridCol w="3383280"/>
                <a:gridCol w="1188720"/>
              </a:tblGrid>
              <a:tr h="475488">
                <a:tc>
                  <a:txBody>
                    <a:bodyPr/>
                    <a:lstStyle/>
                    <a:p>
                      <a:pPr indent="0" marL="0">
                        <a:buNone/>
                      </a:pPr>
                      <a:r>
                        <a:rPr lang="en-US" sz="1400" b="1" dirty="0">
                          <a:solidFill>
                            <a:schemeClr val="bg1"/>
                          </a:solidFill>
                        </a:rPr>
                        <a:t>Month</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Client</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Scope</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Status</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r>
              <a:tr h="475488">
                <a:tc>
                  <a:txBody>
                    <a:bodyPr/>
                    <a:lstStyle/>
                    <a:p>
                      <a:pPr indent="0" marL="0">
                        <a:buNone/>
                      </a:pPr>
                      <a:r>
                        <a:rPr lang="en-US" sz="1200" b="1" dirty="0">
                          <a:solidFill>
                            <a:schemeClr val="tx1"/>
                          </a:solidFill>
                        </a:rPr>
                        <a:t>Jul</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SBJH Founders Day</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Event collaterals: standee, stage LED, videos</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tx2"/>
                          </a:solidFill>
                        </a:rPr>
                        <a:t>Completed</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E3F1E8"/>
                    </a:solidFill>
                  </a:tcPr>
                </a:tc>
              </a:tr>
              <a:tr h="475488">
                <a:tc>
                  <a:txBody>
                    <a:bodyPr/>
                    <a:lstStyle/>
                    <a:p>
                      <a:pPr indent="0" marL="0">
                        <a:buNone/>
                      </a:pPr>
                      <a:r>
                        <a:rPr lang="en-US" sz="1200" b="1" dirty="0">
                          <a:solidFill>
                            <a:schemeClr val="tx1"/>
                          </a:solidFill>
                        </a:rPr>
                        <a:t>Jul</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VKS Builders</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Brand logo design &amp; stationery</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tx2"/>
                          </a:solidFill>
                        </a:rPr>
                        <a:t>Completed</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E3F1E8"/>
                    </a:solidFill>
                  </a:tcPr>
                </a:tc>
              </a:tr>
              <a:tr h="475488">
                <a:tc>
                  <a:txBody>
                    <a:bodyPr/>
                    <a:lstStyle/>
                    <a:p>
                      <a:pPr indent="0" marL="0">
                        <a:buNone/>
                      </a:pPr>
                      <a:r>
                        <a:rPr lang="en-US" sz="1200" b="1" dirty="0">
                          <a:solidFill>
                            <a:schemeClr val="tx1"/>
                          </a:solidFill>
                        </a:rPr>
                        <a:t>Jul</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SIP Academy</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23-year anniversary event collaterals</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tx2"/>
                          </a:solidFill>
                        </a:rPr>
                        <a:t>Completed</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E3F1E8"/>
                    </a:solidFill>
                  </a:tcPr>
                </a:tc>
              </a:tr>
              <a:tr h="475488">
                <a:tc>
                  <a:txBody>
                    <a:bodyPr/>
                    <a:lstStyle/>
                    <a:p>
                      <a:pPr indent="0" marL="0">
                        <a:buNone/>
                      </a:pPr>
                      <a:r>
                        <a:rPr lang="en-US" sz="1200" b="1" dirty="0">
                          <a:solidFill>
                            <a:schemeClr val="tx1"/>
                          </a:solidFill>
                        </a:rPr>
                        <a:t>Jul</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Wewin Automation</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B-card &amp; event panels, Coimbatore (11)</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tx2"/>
                          </a:solidFill>
                        </a:rPr>
                        <a:t>Completed</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E3F1E8"/>
                    </a:solidFill>
                  </a:tcPr>
                </a:tc>
              </a:tr>
              <a:tr h="475488">
                <a:tc>
                  <a:txBody>
                    <a:bodyPr/>
                    <a:lstStyle/>
                    <a:p>
                      <a:pPr indent="0" marL="0">
                        <a:buNone/>
                      </a:pPr>
                      <a:r>
                        <a:rPr lang="en-US" sz="1200" b="1" dirty="0">
                          <a:solidFill>
                            <a:schemeClr val="tx1"/>
                          </a:solidFill>
                        </a:rPr>
                        <a:t>Aug</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JMI</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Event posters (10) &amp; 12-page catalogue</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tx2"/>
                          </a:solidFill>
                        </a:rPr>
                        <a:t>Completed</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E3F1E8"/>
                    </a:solidFill>
                  </a:tcPr>
                </a:tc>
              </a:tr>
              <a:tr h="475488">
                <a:tc>
                  <a:txBody>
                    <a:bodyPr/>
                    <a:lstStyle/>
                    <a:p>
                      <a:pPr indent="0" marL="0">
                        <a:buNone/>
                      </a:pPr>
                      <a:r>
                        <a:rPr lang="en-US" sz="1200" b="1" dirty="0">
                          <a:solidFill>
                            <a:schemeClr val="tx1"/>
                          </a:solidFill>
                        </a:rPr>
                        <a:t>Aug</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Checkpoint Diagnostic</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Re-branding</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3"/>
                          </a:solidFill>
                        </a:rPr>
                        <a:t>Delayed</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9DAD3"/>
                    </a:solidFill>
                  </a:tcPr>
                </a:tc>
              </a:tr>
              <a:tr h="475488">
                <a:tc>
                  <a:txBody>
                    <a:bodyPr/>
                    <a:lstStyle/>
                    <a:p>
                      <a:pPr indent="0" marL="0">
                        <a:buNone/>
                      </a:pPr>
                      <a:r>
                        <a:rPr lang="en-US" sz="1200" b="1" dirty="0">
                          <a:solidFill>
                            <a:schemeClr val="tx1"/>
                          </a:solidFill>
                        </a:rPr>
                        <a:t>Aug</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Xylemx</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Logo design</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3"/>
                          </a:solidFill>
                        </a:rPr>
                        <a:t>Delayed</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9DAD3"/>
                    </a:solidFill>
                  </a:tcPr>
                </a:tc>
              </a:tr>
              <a:tr h="475488">
                <a:tc>
                  <a:txBody>
                    <a:bodyPr/>
                    <a:lstStyle/>
                    <a:p>
                      <a:pPr indent="0" marL="0">
                        <a:buNone/>
                      </a:pPr>
                      <a:r>
                        <a:rPr lang="en-US" sz="1200" b="1" dirty="0">
                          <a:solidFill>
                            <a:schemeClr val="tx1"/>
                          </a:solidFill>
                        </a:rPr>
                        <a:t>Sep</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200" b="1" dirty="0">
                          <a:solidFill>
                            <a:schemeClr val="tx1"/>
                          </a:solidFill>
                        </a:rPr>
                        <a:t>Wewin Automation</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Event panel adaptation, Bangalore (7)</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tx2"/>
                          </a:solidFill>
                        </a:rPr>
                        <a:t>Completed</a:t>
                      </a:r>
                      <a:endParaRPr lang="en-US" sz="12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E3F1E8"/>
                    </a:solidFill>
                  </a:tcPr>
                </a:tc>
              </a:tr>
            </a:tbl>
          </a:graphicData>
        </a:graphic>
      </p:graphicFrame>
      <p:sp>
        <p:nvSpPr>
          <p:cNvPr id="4" name="Slipped card"/>
          <p:cNvSpPr/>
          <p:nvPr/>
        </p:nvSpPr>
        <p:spPr>
          <a:xfrm>
            <a:off x="8046720" y="1325880"/>
            <a:ext cx="3566160" cy="2331720"/>
          </a:xfrm>
          <a:prstGeom prst="roundRect">
            <a:avLst>
              <a:gd name="adj" fmla="val 4706"/>
            </a:avLst>
          </a:prstGeom>
          <a:solidFill>
            <a:schemeClr val="bg1"/>
          </a:solidFill>
          <a:ln w="25400">
            <a:solidFill>
              <a:schemeClr val="accent3"/>
            </a:solidFill>
            <a:prstDash val="solid"/>
          </a:ln>
          <a:effectLst>
            <a:outerShdw sx="100000" sy="100000" kx="0" ky="0" algn="bl" rotWithShape="0" blurRad="76200" dist="38100" dir="5400000">
              <a:srgbClr val="000000">
                <a:alpha val="12000"/>
              </a:srgbClr>
            </a:outerShdw>
          </a:effectLst>
        </p:spPr>
      </p:sp>
      <p:sp>
        <p:nvSpPr>
          <p:cNvPr id="5" name="Window dot"/>
          <p:cNvSpPr/>
          <p:nvPr/>
        </p:nvSpPr>
        <p:spPr>
          <a:xfrm>
            <a:off x="10744200" y="1463040"/>
            <a:ext cx="128016" cy="128016"/>
          </a:xfrm>
          <a:prstGeom prst="ellipse">
            <a:avLst/>
          </a:prstGeom>
          <a:solidFill>
            <a:schemeClr val="tx2"/>
          </a:solidFill>
          <a:ln w="12700">
            <a:solidFill>
              <a:schemeClr val="tx2"/>
            </a:solidFill>
            <a:prstDash val="solid"/>
          </a:ln>
        </p:spPr>
      </p:sp>
      <p:sp>
        <p:nvSpPr>
          <p:cNvPr id="6" name="Window dot"/>
          <p:cNvSpPr/>
          <p:nvPr/>
        </p:nvSpPr>
        <p:spPr>
          <a:xfrm>
            <a:off x="10972800" y="1463040"/>
            <a:ext cx="128016" cy="128016"/>
          </a:xfrm>
          <a:prstGeom prst="ellipse">
            <a:avLst/>
          </a:prstGeom>
          <a:solidFill>
            <a:schemeClr val="accent4"/>
          </a:solidFill>
          <a:ln w="12700">
            <a:solidFill>
              <a:schemeClr val="accent4"/>
            </a:solidFill>
            <a:prstDash val="solid"/>
          </a:ln>
        </p:spPr>
      </p:sp>
      <p:sp>
        <p:nvSpPr>
          <p:cNvPr id="7" name="Window dot"/>
          <p:cNvSpPr/>
          <p:nvPr/>
        </p:nvSpPr>
        <p:spPr>
          <a:xfrm>
            <a:off x="11201400" y="1463040"/>
            <a:ext cx="128016" cy="128016"/>
          </a:xfrm>
          <a:prstGeom prst="ellipse">
            <a:avLst/>
          </a:prstGeom>
          <a:solidFill>
            <a:schemeClr val="accent3"/>
          </a:solidFill>
          <a:ln w="12700">
            <a:solidFill>
              <a:schemeClr val="accent3"/>
            </a:solidFill>
            <a:prstDash val="solid"/>
          </a:ln>
        </p:spPr>
      </p:sp>
      <p:sp>
        <p:nvSpPr>
          <p:cNvPr id="8" name="Text 5"/>
          <p:cNvSpPr txBox="1"/>
          <p:nvPr/>
        </p:nvSpPr>
        <p:spPr>
          <a:xfrm>
            <a:off x="8275320" y="1600200"/>
            <a:ext cx="2377440" cy="365760"/>
          </a:xfrm>
          <a:prstGeom prst="rect">
            <a:avLst/>
          </a:prstGeom>
          <a:noFill/>
          <a:ln/>
        </p:spPr>
        <p:txBody>
          <a:bodyPr wrap="square" lIns="0" tIns="0" rIns="0" bIns="0" rtlCol="0" anchor="ctr"/>
          <a:lstStyle/>
          <a:p>
            <a:pPr indent="0" marL="0">
              <a:buNone/>
            </a:pPr>
            <a:r>
              <a:rPr lang="en-US" sz="1700" b="1" dirty="0">
                <a:solidFill>
                  <a:schemeClr val="tx1"/>
                </a:solidFill>
              </a:rPr>
              <a:t>Why 2 slipped</a:t>
            </a:r>
            <a:endParaRPr lang="en-US" sz="1700" dirty="0"/>
          </a:p>
        </p:txBody>
      </p:sp>
      <p:sp>
        <p:nvSpPr>
          <p:cNvPr id="9" name="Data placeholder"/>
          <p:cNvSpPr/>
          <p:nvPr/>
        </p:nvSpPr>
        <p:spPr>
          <a:xfrm>
            <a:off x="8275320" y="2057400"/>
            <a:ext cx="3108960" cy="1417320"/>
          </a:xfrm>
          <a:prstGeom prst="roundRect">
            <a:avLst>
              <a:gd name="adj" fmla="val 6452"/>
            </a:avLst>
          </a:prstGeom>
          <a:solidFill>
            <a:schemeClr val="accent6"/>
          </a:solidFill>
          <a:ln w="19050">
            <a:solidFill>
              <a:schemeClr val="accent1"/>
            </a:solidFill>
            <a:prstDash val="dash"/>
          </a:ln>
        </p:spPr>
      </p:sp>
      <p:sp>
        <p:nvSpPr>
          <p:cNvPr id="10" name="Text 7"/>
          <p:cNvSpPr txBox="1"/>
          <p:nvPr/>
        </p:nvSpPr>
        <p:spPr>
          <a:xfrm>
            <a:off x="8458200" y="2148840"/>
            <a:ext cx="2743200" cy="1234440"/>
          </a:xfrm>
          <a:prstGeom prst="rect">
            <a:avLst/>
          </a:prstGeom>
          <a:noFill/>
          <a:ln/>
        </p:spPr>
        <p:txBody>
          <a:bodyPr wrap="square" lIns="0" tIns="0" rIns="0" bIns="0" rtlCol="0" anchor="ctr"/>
          <a:lstStyle/>
          <a:p>
            <a:pPr indent="0" marL="0">
              <a:buNone/>
            </a:pPr>
            <a:r>
              <a:rPr lang="en-US" sz="1100" b="1" dirty="0">
                <a:solidFill>
                  <a:srgbClr val="B3561A"/>
                </a:solidFill>
              </a:rPr>
              <a:t>TO ADD  </a:t>
            </a:r>
            <a:endParaRPr lang="en-US" sz="1100" dirty="0"/>
          </a:p>
          <a:p>
            <a:pPr indent="0" marL="0">
              <a:buNone/>
            </a:pPr>
            <a:r>
              <a:rPr lang="en-US" sz="1300" i="1" dirty="0">
                <a:solidFill>
                  <a:srgbClr val="B3561A"/>
                </a:solidFill>
              </a:rPr>
              <a:t>Reason per project (approvals, scope change, inputs) + new close date.</a:t>
            </a:r>
            <a:endParaRPr lang="en-US" sz="1100" dirty="0"/>
          </a:p>
        </p:txBody>
      </p:sp>
      <p:sp>
        <p:nvSpPr>
          <p:cNvPr id="11" name="Pitch card"/>
          <p:cNvSpPr/>
          <p:nvPr/>
        </p:nvSpPr>
        <p:spPr>
          <a:xfrm>
            <a:off x="8046720" y="3840480"/>
            <a:ext cx="3566160" cy="2286000"/>
          </a:xfrm>
          <a:prstGeom prst="roundRect">
            <a:avLst>
              <a:gd name="adj" fmla="val 4800"/>
            </a:avLst>
          </a:prstGeom>
          <a:solidFill>
            <a:schemeClr val="bg1"/>
          </a:solidFill>
          <a:ln w="25400">
            <a:solidFill>
              <a:schemeClr val="tx2"/>
            </a:solidFill>
            <a:prstDash val="solid"/>
          </a:ln>
          <a:effectLst>
            <a:outerShdw sx="100000" sy="100000" kx="0" ky="0" algn="bl" rotWithShape="0" blurRad="76200" dist="38100" dir="5400000">
              <a:srgbClr val="000000">
                <a:alpha val="12000"/>
              </a:srgbClr>
            </a:outerShdw>
          </a:effectLst>
        </p:spPr>
      </p:sp>
      <p:sp>
        <p:nvSpPr>
          <p:cNvPr id="12" name="Window dot"/>
          <p:cNvSpPr/>
          <p:nvPr/>
        </p:nvSpPr>
        <p:spPr>
          <a:xfrm>
            <a:off x="10744200" y="3977640"/>
            <a:ext cx="128016" cy="128016"/>
          </a:xfrm>
          <a:prstGeom prst="ellipse">
            <a:avLst/>
          </a:prstGeom>
          <a:solidFill>
            <a:schemeClr val="tx2"/>
          </a:solidFill>
          <a:ln w="12700">
            <a:solidFill>
              <a:schemeClr val="tx2"/>
            </a:solidFill>
            <a:prstDash val="solid"/>
          </a:ln>
        </p:spPr>
      </p:sp>
      <p:sp>
        <p:nvSpPr>
          <p:cNvPr id="13" name="Window dot"/>
          <p:cNvSpPr/>
          <p:nvPr/>
        </p:nvSpPr>
        <p:spPr>
          <a:xfrm>
            <a:off x="10972800" y="3977640"/>
            <a:ext cx="128016" cy="128016"/>
          </a:xfrm>
          <a:prstGeom prst="ellipse">
            <a:avLst/>
          </a:prstGeom>
          <a:solidFill>
            <a:schemeClr val="accent4"/>
          </a:solidFill>
          <a:ln w="12700">
            <a:solidFill>
              <a:schemeClr val="accent4"/>
            </a:solidFill>
            <a:prstDash val="solid"/>
          </a:ln>
        </p:spPr>
      </p:sp>
      <p:sp>
        <p:nvSpPr>
          <p:cNvPr id="14" name="Window dot"/>
          <p:cNvSpPr/>
          <p:nvPr/>
        </p:nvSpPr>
        <p:spPr>
          <a:xfrm>
            <a:off x="11201400" y="3977640"/>
            <a:ext cx="128016" cy="128016"/>
          </a:xfrm>
          <a:prstGeom prst="ellipse">
            <a:avLst/>
          </a:prstGeom>
          <a:solidFill>
            <a:schemeClr val="accent3"/>
          </a:solidFill>
          <a:ln w="12700">
            <a:solidFill>
              <a:schemeClr val="accent3"/>
            </a:solidFill>
            <a:prstDash val="solid"/>
          </a:ln>
        </p:spPr>
      </p:sp>
      <p:sp>
        <p:nvSpPr>
          <p:cNvPr id="15" name="Text 12"/>
          <p:cNvSpPr txBox="1"/>
          <p:nvPr/>
        </p:nvSpPr>
        <p:spPr>
          <a:xfrm>
            <a:off x="8275320" y="4114800"/>
            <a:ext cx="3108960" cy="365760"/>
          </a:xfrm>
          <a:prstGeom prst="rect">
            <a:avLst/>
          </a:prstGeom>
          <a:noFill/>
          <a:ln/>
        </p:spPr>
        <p:txBody>
          <a:bodyPr wrap="square" lIns="0" tIns="0" rIns="0" bIns="0" rtlCol="0" anchor="ctr"/>
          <a:lstStyle/>
          <a:p>
            <a:pPr indent="0" marL="0">
              <a:buNone/>
            </a:pPr>
            <a:r>
              <a:rPr lang="en-US" sz="1500" b="1" dirty="0">
                <a:solidFill>
                  <a:schemeClr val="tx1"/>
                </a:solidFill>
              </a:rPr>
              <a:t>Pitch support (not in the tracker)</a:t>
            </a:r>
            <a:endParaRPr lang="en-US" sz="1500" dirty="0"/>
          </a:p>
        </p:txBody>
      </p:sp>
      <p:sp>
        <p:nvSpPr>
          <p:cNvPr id="16" name="Text 13"/>
          <p:cNvSpPr txBox="1"/>
          <p:nvPr/>
        </p:nvSpPr>
        <p:spPr>
          <a:xfrm>
            <a:off x="8275320" y="4480560"/>
            <a:ext cx="3108960" cy="365760"/>
          </a:xfrm>
          <a:prstGeom prst="rect">
            <a:avLst/>
          </a:prstGeom>
          <a:noFill/>
          <a:ln/>
        </p:spPr>
        <p:txBody>
          <a:bodyPr wrap="square" lIns="0" tIns="0" rIns="0" bIns="0" rtlCol="0" anchor="ctr"/>
          <a:lstStyle/>
          <a:p>
            <a:pPr indent="0" marL="0">
              <a:buNone/>
            </a:pPr>
            <a:r>
              <a:rPr lang="en-US" sz="1300" dirty="0">
                <a:solidFill>
                  <a:schemeClr val="accent5"/>
                </a:solidFill>
              </a:rPr>
              <a:t>Apollo and DBS pitches: 9 master creatives</a:t>
            </a:r>
            <a:endParaRPr lang="en-US" sz="1300" dirty="0"/>
          </a:p>
        </p:txBody>
      </p:sp>
      <p:sp>
        <p:nvSpPr>
          <p:cNvPr id="17" name="Data placeholder"/>
          <p:cNvSpPr/>
          <p:nvPr/>
        </p:nvSpPr>
        <p:spPr>
          <a:xfrm>
            <a:off x="8275320" y="4937760"/>
            <a:ext cx="3108960" cy="1005840"/>
          </a:xfrm>
          <a:prstGeom prst="roundRect">
            <a:avLst>
              <a:gd name="adj" fmla="val 9091"/>
            </a:avLst>
          </a:prstGeom>
          <a:solidFill>
            <a:schemeClr val="accent6"/>
          </a:solidFill>
          <a:ln w="19050">
            <a:solidFill>
              <a:schemeClr val="accent1"/>
            </a:solidFill>
            <a:prstDash val="dash"/>
          </a:ln>
        </p:spPr>
      </p:sp>
      <p:sp>
        <p:nvSpPr>
          <p:cNvPr id="18" name="Text 15"/>
          <p:cNvSpPr txBox="1"/>
          <p:nvPr/>
        </p:nvSpPr>
        <p:spPr>
          <a:xfrm>
            <a:off x="8458200" y="5029200"/>
            <a:ext cx="2743200" cy="822960"/>
          </a:xfrm>
          <a:prstGeom prst="rect">
            <a:avLst/>
          </a:prstGeom>
          <a:noFill/>
          <a:ln/>
        </p:spPr>
        <p:txBody>
          <a:bodyPr wrap="square" lIns="0" tIns="0" rIns="0" bIns="0" rtlCol="0" anchor="ctr"/>
          <a:lstStyle/>
          <a:p>
            <a:pPr indent="0" marL="0">
              <a:buNone/>
            </a:pPr>
            <a:r>
              <a:rPr lang="en-US" sz="1100" b="1" dirty="0">
                <a:solidFill>
                  <a:srgbClr val="B3561A"/>
                </a:solidFill>
              </a:rPr>
              <a:t>TO ADD  </a:t>
            </a:r>
            <a:endParaRPr lang="en-US" sz="1100" dirty="0"/>
          </a:p>
          <a:p>
            <a:pPr indent="0" marL="0">
              <a:buNone/>
            </a:pPr>
            <a:r>
              <a:rPr lang="en-US" sz="1300" i="1" dirty="0">
                <a:solidFill>
                  <a:srgbClr val="B3561A"/>
                </a:solidFill>
              </a:rPr>
              <a:t>Outcome: won / lost / pending</a:t>
            </a:r>
            <a:endParaRPr lang="en-US" sz="11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2800" b="1" dirty="0">
                <a:solidFill>
                  <a:schemeClr val="tx1"/>
                </a:solidFill>
              </a:rPr>
              <a:t>OND focus: real-estate AI videos and AI-led creative</a:t>
            </a:r>
            <a:endParaRPr lang="en-US" sz="2800" dirty="0"/>
          </a:p>
        </p:txBody>
      </p:sp>
      <p:sp>
        <p:nvSpPr>
          <p:cNvPr id="3" name="Pillar card"/>
          <p:cNvSpPr/>
          <p:nvPr/>
        </p:nvSpPr>
        <p:spPr>
          <a:xfrm>
            <a:off x="548640" y="1325880"/>
            <a:ext cx="3474720" cy="2103120"/>
          </a:xfrm>
          <a:prstGeom prst="roundRect">
            <a:avLst>
              <a:gd name="adj" fmla="val 5217"/>
            </a:avLst>
          </a:prstGeom>
          <a:solidFill>
            <a:schemeClr val="bg1"/>
          </a:solidFill>
          <a:ln w="15875">
            <a:solidFill>
              <a:schemeClr val="tx1"/>
            </a:solidFill>
            <a:prstDash val="solid"/>
          </a:ln>
          <a:effectLst>
            <a:outerShdw sx="100000" sy="100000" kx="0" ky="0" algn="bl" rotWithShape="0" blurRad="76200" dist="38100" dir="5400000">
              <a:srgbClr val="000000">
                <a:alpha val="12000"/>
              </a:srgbClr>
            </a:outerShdw>
          </a:effectLst>
        </p:spPr>
      </p:sp>
      <p:sp>
        <p:nvSpPr>
          <p:cNvPr id="4" name="Window dot"/>
          <p:cNvSpPr/>
          <p:nvPr/>
        </p:nvSpPr>
        <p:spPr>
          <a:xfrm>
            <a:off x="3154680" y="1463040"/>
            <a:ext cx="128016" cy="128016"/>
          </a:xfrm>
          <a:prstGeom prst="ellipse">
            <a:avLst/>
          </a:prstGeom>
          <a:solidFill>
            <a:schemeClr val="tx2"/>
          </a:solidFill>
          <a:ln w="12700">
            <a:solidFill>
              <a:schemeClr val="tx2"/>
            </a:solidFill>
            <a:prstDash val="solid"/>
          </a:ln>
        </p:spPr>
      </p:sp>
      <p:sp>
        <p:nvSpPr>
          <p:cNvPr id="5" name="Window dot"/>
          <p:cNvSpPr/>
          <p:nvPr/>
        </p:nvSpPr>
        <p:spPr>
          <a:xfrm>
            <a:off x="3383280" y="1463040"/>
            <a:ext cx="128016" cy="128016"/>
          </a:xfrm>
          <a:prstGeom prst="ellipse">
            <a:avLst/>
          </a:prstGeom>
          <a:solidFill>
            <a:schemeClr val="accent4"/>
          </a:solidFill>
          <a:ln w="12700">
            <a:solidFill>
              <a:schemeClr val="accent4"/>
            </a:solidFill>
            <a:prstDash val="solid"/>
          </a:ln>
        </p:spPr>
      </p:sp>
      <p:sp>
        <p:nvSpPr>
          <p:cNvPr id="6" name="Window dot"/>
          <p:cNvSpPr/>
          <p:nvPr/>
        </p:nvSpPr>
        <p:spPr>
          <a:xfrm>
            <a:off x="3611880" y="1463040"/>
            <a:ext cx="128016" cy="128016"/>
          </a:xfrm>
          <a:prstGeom prst="ellipse">
            <a:avLst/>
          </a:prstGeom>
          <a:solidFill>
            <a:schemeClr val="accent3"/>
          </a:solidFill>
          <a:ln w="12700">
            <a:solidFill>
              <a:schemeClr val="accent3"/>
            </a:solidFill>
            <a:prstDash val="solid"/>
          </a:ln>
        </p:spPr>
      </p:sp>
      <p:sp>
        <p:nvSpPr>
          <p:cNvPr id="7" name="Icon circle"/>
          <p:cNvSpPr/>
          <p:nvPr/>
        </p:nvSpPr>
        <p:spPr>
          <a:xfrm>
            <a:off x="777240" y="1554480"/>
            <a:ext cx="548640" cy="548640"/>
          </a:xfrm>
          <a:prstGeom prst="ellipse">
            <a:avLst/>
          </a:prstGeom>
          <a:solidFill>
            <a:schemeClr val="accent1"/>
          </a:solidFill>
          <a:ln w="12700">
            <a:solidFill>
              <a:schemeClr val="accent1"/>
            </a:solidFill>
            <a:prstDash val="solid"/>
          </a:ln>
        </p:spPr>
      </p:sp>
      <p:pic>
        <p:nvPicPr>
          <p:cNvPr id="8" name="Image 0" descr="icon">    </p:cNvPr>
          <p:cNvPicPr>
            <a:picLocks noChangeAspect="1"/>
          </p:cNvPicPr>
          <p:nvPr/>
        </p:nvPicPr>
        <p:blipFill>
          <a:blip r:embed="rId1"/>
          <a:stretch>
            <a:fillRect/>
          </a:stretch>
        </p:blipFill>
        <p:spPr>
          <a:xfrm>
            <a:off x="914400" y="1691640"/>
            <a:ext cx="274320" cy="274320"/>
          </a:xfrm>
          <a:prstGeom prst="rect">
            <a:avLst/>
          </a:prstGeom>
        </p:spPr>
      </p:pic>
      <p:sp>
        <p:nvSpPr>
          <p:cNvPr id="9" name="Text 6"/>
          <p:cNvSpPr txBox="1"/>
          <p:nvPr/>
        </p:nvSpPr>
        <p:spPr>
          <a:xfrm>
            <a:off x="1463040" y="1554480"/>
            <a:ext cx="2377440" cy="548640"/>
          </a:xfrm>
          <a:prstGeom prst="rect">
            <a:avLst/>
          </a:prstGeom>
          <a:noFill/>
          <a:ln/>
        </p:spPr>
        <p:txBody>
          <a:bodyPr wrap="square" lIns="0" tIns="0" rIns="0" bIns="0" rtlCol="0" anchor="ctr"/>
          <a:lstStyle/>
          <a:p>
            <a:pPr indent="0" marL="0">
              <a:buNone/>
            </a:pPr>
            <a:r>
              <a:rPr lang="en-US" sz="1700" b="1" dirty="0">
                <a:solidFill>
                  <a:schemeClr val="tx1"/>
                </a:solidFill>
              </a:rPr>
              <a:t>Real-estate AI videos</a:t>
            </a:r>
            <a:endParaRPr lang="en-US" sz="1700" dirty="0"/>
          </a:p>
        </p:txBody>
      </p:sp>
      <p:sp>
        <p:nvSpPr>
          <p:cNvPr id="10" name="Text 7"/>
          <p:cNvSpPr txBox="1"/>
          <p:nvPr/>
        </p:nvSpPr>
        <p:spPr>
          <a:xfrm>
            <a:off x="777240" y="2240280"/>
            <a:ext cx="3017520" cy="1051560"/>
          </a:xfrm>
          <a:prstGeom prst="rect">
            <a:avLst/>
          </a:prstGeom>
          <a:noFill/>
          <a:ln/>
        </p:spPr>
        <p:txBody>
          <a:bodyPr wrap="square" lIns="0" tIns="0" rIns="0" bIns="0" rtlCol="0" anchor="t"/>
          <a:lstStyle/>
          <a:p>
            <a:pPr indent="0" marL="0">
              <a:buNone/>
            </a:pPr>
            <a:r>
              <a:rPr lang="en-US" sz="1300" dirty="0">
                <a:solidFill>
                  <a:schemeClr val="accent5"/>
                </a:solidFill>
              </a:rPr>
              <a:t>Turn the TVS TVC capability and 3D rendering into AI video offers for real-estate clients.</a:t>
            </a:r>
            <a:endParaRPr lang="en-US" sz="1300" dirty="0"/>
          </a:p>
        </p:txBody>
      </p:sp>
      <p:sp>
        <p:nvSpPr>
          <p:cNvPr id="11" name="Pillar card"/>
          <p:cNvSpPr/>
          <p:nvPr/>
        </p:nvSpPr>
        <p:spPr>
          <a:xfrm>
            <a:off x="4297680" y="1325880"/>
            <a:ext cx="3474720" cy="2103120"/>
          </a:xfrm>
          <a:prstGeom prst="roundRect">
            <a:avLst>
              <a:gd name="adj" fmla="val 5217"/>
            </a:avLst>
          </a:prstGeom>
          <a:solidFill>
            <a:schemeClr val="bg1"/>
          </a:solidFill>
          <a:ln w="15875">
            <a:solidFill>
              <a:schemeClr val="tx1"/>
            </a:solidFill>
            <a:prstDash val="solid"/>
          </a:ln>
          <a:effectLst>
            <a:outerShdw sx="100000" sy="100000" kx="0" ky="0" algn="bl" rotWithShape="0" blurRad="76200" dist="38100" dir="5400000">
              <a:srgbClr val="000000">
                <a:alpha val="12000"/>
              </a:srgbClr>
            </a:outerShdw>
          </a:effectLst>
        </p:spPr>
      </p:sp>
      <p:sp>
        <p:nvSpPr>
          <p:cNvPr id="12" name="Window dot"/>
          <p:cNvSpPr/>
          <p:nvPr/>
        </p:nvSpPr>
        <p:spPr>
          <a:xfrm>
            <a:off x="6903720" y="1463040"/>
            <a:ext cx="128016" cy="128016"/>
          </a:xfrm>
          <a:prstGeom prst="ellipse">
            <a:avLst/>
          </a:prstGeom>
          <a:solidFill>
            <a:schemeClr val="tx2"/>
          </a:solidFill>
          <a:ln w="12700">
            <a:solidFill>
              <a:schemeClr val="tx2"/>
            </a:solidFill>
            <a:prstDash val="solid"/>
          </a:ln>
        </p:spPr>
      </p:sp>
      <p:sp>
        <p:nvSpPr>
          <p:cNvPr id="13" name="Window dot"/>
          <p:cNvSpPr/>
          <p:nvPr/>
        </p:nvSpPr>
        <p:spPr>
          <a:xfrm>
            <a:off x="7132320" y="1463040"/>
            <a:ext cx="128016" cy="128016"/>
          </a:xfrm>
          <a:prstGeom prst="ellipse">
            <a:avLst/>
          </a:prstGeom>
          <a:solidFill>
            <a:schemeClr val="accent4"/>
          </a:solidFill>
          <a:ln w="12700">
            <a:solidFill>
              <a:schemeClr val="accent4"/>
            </a:solidFill>
            <a:prstDash val="solid"/>
          </a:ln>
        </p:spPr>
      </p:sp>
      <p:sp>
        <p:nvSpPr>
          <p:cNvPr id="14" name="Window dot"/>
          <p:cNvSpPr/>
          <p:nvPr/>
        </p:nvSpPr>
        <p:spPr>
          <a:xfrm>
            <a:off x="7360920" y="1463040"/>
            <a:ext cx="128016" cy="128016"/>
          </a:xfrm>
          <a:prstGeom prst="ellipse">
            <a:avLst/>
          </a:prstGeom>
          <a:solidFill>
            <a:schemeClr val="accent3"/>
          </a:solidFill>
          <a:ln w="12700">
            <a:solidFill>
              <a:schemeClr val="accent3"/>
            </a:solidFill>
            <a:prstDash val="solid"/>
          </a:ln>
        </p:spPr>
      </p:sp>
      <p:sp>
        <p:nvSpPr>
          <p:cNvPr id="15" name="Icon circle"/>
          <p:cNvSpPr/>
          <p:nvPr/>
        </p:nvSpPr>
        <p:spPr>
          <a:xfrm>
            <a:off x="4526280" y="1554480"/>
            <a:ext cx="548640" cy="548640"/>
          </a:xfrm>
          <a:prstGeom prst="ellipse">
            <a:avLst/>
          </a:prstGeom>
          <a:solidFill>
            <a:schemeClr val="tx2"/>
          </a:solidFill>
          <a:ln w="12700">
            <a:solidFill>
              <a:schemeClr val="tx2"/>
            </a:solidFill>
            <a:prstDash val="solid"/>
          </a:ln>
        </p:spPr>
      </p:sp>
      <p:pic>
        <p:nvPicPr>
          <p:cNvPr id="16" name="Image 1" descr="icon">    </p:cNvPr>
          <p:cNvPicPr>
            <a:picLocks noChangeAspect="1"/>
          </p:cNvPicPr>
          <p:nvPr/>
        </p:nvPicPr>
        <p:blipFill>
          <a:blip r:embed="rId2"/>
          <a:stretch>
            <a:fillRect/>
          </a:stretch>
        </p:blipFill>
        <p:spPr>
          <a:xfrm>
            <a:off x="4663440" y="1691640"/>
            <a:ext cx="274320" cy="274320"/>
          </a:xfrm>
          <a:prstGeom prst="rect">
            <a:avLst/>
          </a:prstGeom>
        </p:spPr>
      </p:pic>
      <p:sp>
        <p:nvSpPr>
          <p:cNvPr id="17" name="Text 13"/>
          <p:cNvSpPr txBox="1"/>
          <p:nvPr/>
        </p:nvSpPr>
        <p:spPr>
          <a:xfrm>
            <a:off x="5212080" y="1554480"/>
            <a:ext cx="2377440" cy="548640"/>
          </a:xfrm>
          <a:prstGeom prst="rect">
            <a:avLst/>
          </a:prstGeom>
          <a:noFill/>
          <a:ln/>
        </p:spPr>
        <p:txBody>
          <a:bodyPr wrap="square" lIns="0" tIns="0" rIns="0" bIns="0" rtlCol="0" anchor="ctr"/>
          <a:lstStyle/>
          <a:p>
            <a:pPr indent="0" marL="0">
              <a:buNone/>
            </a:pPr>
            <a:r>
              <a:rPr lang="en-US" sz="1700" b="1" dirty="0">
                <a:solidFill>
                  <a:schemeClr val="tx1"/>
                </a:solidFill>
              </a:rPr>
              <a:t>AI-led creative</a:t>
            </a:r>
            <a:endParaRPr lang="en-US" sz="1700" dirty="0"/>
          </a:p>
        </p:txBody>
      </p:sp>
      <p:sp>
        <p:nvSpPr>
          <p:cNvPr id="18" name="Text 14"/>
          <p:cNvSpPr txBox="1"/>
          <p:nvPr/>
        </p:nvSpPr>
        <p:spPr>
          <a:xfrm>
            <a:off x="4526280" y="2240280"/>
            <a:ext cx="3017520" cy="1051560"/>
          </a:xfrm>
          <a:prstGeom prst="rect">
            <a:avLst/>
          </a:prstGeom>
          <a:noFill/>
          <a:ln/>
        </p:spPr>
        <p:txBody>
          <a:bodyPr wrap="square" lIns="0" tIns="0" rIns="0" bIns="0" rtlCol="0" anchor="t"/>
          <a:lstStyle/>
          <a:p>
            <a:pPr indent="0" marL="0">
              <a:buNone/>
            </a:pPr>
            <a:r>
              <a:rPr lang="en-US" sz="1300" dirty="0">
                <a:solidFill>
                  <a:schemeClr val="accent5"/>
                </a:solidFill>
              </a:rPr>
              <a:t>Use AI tools to speed up concepts and adaptations, and package them as new deliverables.</a:t>
            </a:r>
            <a:endParaRPr lang="en-US" sz="1300" dirty="0"/>
          </a:p>
        </p:txBody>
      </p:sp>
      <p:sp>
        <p:nvSpPr>
          <p:cNvPr id="19" name="Pillar card"/>
          <p:cNvSpPr/>
          <p:nvPr/>
        </p:nvSpPr>
        <p:spPr>
          <a:xfrm>
            <a:off x="8046720" y="1325880"/>
            <a:ext cx="3474720" cy="2103120"/>
          </a:xfrm>
          <a:prstGeom prst="roundRect">
            <a:avLst>
              <a:gd name="adj" fmla="val 5217"/>
            </a:avLst>
          </a:prstGeom>
          <a:solidFill>
            <a:schemeClr val="bg1"/>
          </a:solidFill>
          <a:ln w="15875">
            <a:solidFill>
              <a:schemeClr val="tx1"/>
            </a:solidFill>
            <a:prstDash val="solid"/>
          </a:ln>
          <a:effectLst>
            <a:outerShdw sx="100000" sy="100000" kx="0" ky="0" algn="bl" rotWithShape="0" blurRad="76200" dist="38100" dir="5400000">
              <a:srgbClr val="000000">
                <a:alpha val="12000"/>
              </a:srgbClr>
            </a:outerShdw>
          </a:effectLst>
        </p:spPr>
      </p:sp>
      <p:sp>
        <p:nvSpPr>
          <p:cNvPr id="20" name="Window dot"/>
          <p:cNvSpPr/>
          <p:nvPr/>
        </p:nvSpPr>
        <p:spPr>
          <a:xfrm>
            <a:off x="10652760" y="1463040"/>
            <a:ext cx="128016" cy="128016"/>
          </a:xfrm>
          <a:prstGeom prst="ellipse">
            <a:avLst/>
          </a:prstGeom>
          <a:solidFill>
            <a:schemeClr val="tx2"/>
          </a:solidFill>
          <a:ln w="12700">
            <a:solidFill>
              <a:schemeClr val="tx2"/>
            </a:solidFill>
            <a:prstDash val="solid"/>
          </a:ln>
        </p:spPr>
      </p:sp>
      <p:sp>
        <p:nvSpPr>
          <p:cNvPr id="21" name="Window dot"/>
          <p:cNvSpPr/>
          <p:nvPr/>
        </p:nvSpPr>
        <p:spPr>
          <a:xfrm>
            <a:off x="10881360" y="1463040"/>
            <a:ext cx="128016" cy="128016"/>
          </a:xfrm>
          <a:prstGeom prst="ellipse">
            <a:avLst/>
          </a:prstGeom>
          <a:solidFill>
            <a:schemeClr val="accent4"/>
          </a:solidFill>
          <a:ln w="12700">
            <a:solidFill>
              <a:schemeClr val="accent4"/>
            </a:solidFill>
            <a:prstDash val="solid"/>
          </a:ln>
        </p:spPr>
      </p:sp>
      <p:sp>
        <p:nvSpPr>
          <p:cNvPr id="22" name="Window dot"/>
          <p:cNvSpPr/>
          <p:nvPr/>
        </p:nvSpPr>
        <p:spPr>
          <a:xfrm>
            <a:off x="11109960" y="1463040"/>
            <a:ext cx="128016" cy="128016"/>
          </a:xfrm>
          <a:prstGeom prst="ellipse">
            <a:avLst/>
          </a:prstGeom>
          <a:solidFill>
            <a:schemeClr val="accent3"/>
          </a:solidFill>
          <a:ln w="12700">
            <a:solidFill>
              <a:schemeClr val="accent3"/>
            </a:solidFill>
            <a:prstDash val="solid"/>
          </a:ln>
        </p:spPr>
      </p:sp>
      <p:sp>
        <p:nvSpPr>
          <p:cNvPr id="23" name="Icon circle"/>
          <p:cNvSpPr/>
          <p:nvPr/>
        </p:nvSpPr>
        <p:spPr>
          <a:xfrm>
            <a:off x="8275320" y="1554480"/>
            <a:ext cx="548640" cy="548640"/>
          </a:xfrm>
          <a:prstGeom prst="ellipse">
            <a:avLst/>
          </a:prstGeom>
          <a:solidFill>
            <a:schemeClr val="accent1"/>
          </a:solidFill>
          <a:ln w="12700">
            <a:solidFill>
              <a:schemeClr val="accent1"/>
            </a:solidFill>
            <a:prstDash val="solid"/>
          </a:ln>
        </p:spPr>
      </p:sp>
      <p:pic>
        <p:nvPicPr>
          <p:cNvPr id="24" name="Image 2" descr="icon">    </p:cNvPr>
          <p:cNvPicPr>
            <a:picLocks noChangeAspect="1"/>
          </p:cNvPicPr>
          <p:nvPr/>
        </p:nvPicPr>
        <p:blipFill>
          <a:blip r:embed="rId3"/>
          <a:stretch>
            <a:fillRect/>
          </a:stretch>
        </p:blipFill>
        <p:spPr>
          <a:xfrm>
            <a:off x="8412480" y="1691640"/>
            <a:ext cx="274320" cy="274320"/>
          </a:xfrm>
          <a:prstGeom prst="rect">
            <a:avLst/>
          </a:prstGeom>
        </p:spPr>
      </p:pic>
      <p:sp>
        <p:nvSpPr>
          <p:cNvPr id="25" name="Text 20"/>
          <p:cNvSpPr txBox="1"/>
          <p:nvPr/>
        </p:nvSpPr>
        <p:spPr>
          <a:xfrm>
            <a:off x="8961120" y="1554480"/>
            <a:ext cx="2377440" cy="548640"/>
          </a:xfrm>
          <a:prstGeom prst="rect">
            <a:avLst/>
          </a:prstGeom>
          <a:noFill/>
          <a:ln/>
        </p:spPr>
        <p:txBody>
          <a:bodyPr wrap="square" lIns="0" tIns="0" rIns="0" bIns="0" rtlCol="0" anchor="ctr"/>
          <a:lstStyle/>
          <a:p>
            <a:pPr indent="0" marL="0">
              <a:buNone/>
            </a:pPr>
            <a:r>
              <a:rPr lang="en-US" sz="1700" b="1" dirty="0">
                <a:solidFill>
                  <a:schemeClr val="tx1"/>
                </a:solidFill>
              </a:rPr>
              <a:t>Close &amp; protect</a:t>
            </a:r>
            <a:endParaRPr lang="en-US" sz="1700" dirty="0"/>
          </a:p>
        </p:txBody>
      </p:sp>
      <p:sp>
        <p:nvSpPr>
          <p:cNvPr id="26" name="Text 21"/>
          <p:cNvSpPr txBox="1"/>
          <p:nvPr/>
        </p:nvSpPr>
        <p:spPr>
          <a:xfrm>
            <a:off x="8275320" y="2240280"/>
            <a:ext cx="3017520" cy="1051560"/>
          </a:xfrm>
          <a:prstGeom prst="rect">
            <a:avLst/>
          </a:prstGeom>
          <a:noFill/>
          <a:ln/>
        </p:spPr>
        <p:txBody>
          <a:bodyPr wrap="square" lIns="0" tIns="0" rIns="0" bIns="0" rtlCol="0" anchor="t"/>
          <a:lstStyle/>
          <a:p>
            <a:pPr indent="0" marL="0">
              <a:buNone/>
            </a:pPr>
            <a:r>
              <a:rPr lang="en-US" sz="1300" dirty="0">
                <a:solidFill>
                  <a:schemeClr val="accent5"/>
                </a:solidFill>
              </a:rPr>
              <a:t>Close Checkpoint, Xylemx and TVS Green; keep every retainer on scope.</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3703320"/>
          <a:ext cx="11064240" cy="914400"/>
        </p:xfrm>
        <a:graphic>
          <a:graphicData uri="http://schemas.openxmlformats.org/drawingml/2006/table">
            <a:tbl>
              <a:tblPr/>
              <a:tblGrid>
                <a:gridCol w="4206240"/>
                <a:gridCol w="2286000"/>
                <a:gridCol w="2286000"/>
                <a:gridCol w="2286000"/>
              </a:tblGrid>
              <a:tr h="475488">
                <a:tc>
                  <a:txBody>
                    <a:bodyPr/>
                    <a:lstStyle/>
                    <a:p>
                      <a:pPr algn="l" indent="0" marL="0">
                        <a:buNone/>
                      </a:pPr>
                      <a:r>
                        <a:rPr lang="en-US" sz="1400" b="1" dirty="0">
                          <a:solidFill>
                            <a:schemeClr val="bg1"/>
                          </a:solidFill>
                        </a:rPr>
                        <a:t>Target</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Oct (actual)</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Nov</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Dec</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r>
              <a:tr h="475488">
                <a:tc>
                  <a:txBody>
                    <a:bodyPr/>
                    <a:lstStyle/>
                    <a:p>
                      <a:pPr indent="0" marL="0">
                        <a:buNone/>
                      </a:pPr>
                      <a:r>
                        <a:rPr lang="en-US" sz="1400" b="1" dirty="0">
                          <a:solidFill>
                            <a:schemeClr val="tx1"/>
                          </a:solidFill>
                        </a:rPr>
                        <a:t>Real-estate AI videos delivered</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400" i="1" dirty="0">
                          <a:solidFill>
                            <a:srgbClr val="B3561A"/>
                          </a:solidFill>
                        </a:rPr>
                        <a:t>[add]</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c>
                  <a:txBody>
                    <a:bodyPr/>
                    <a:lstStyle/>
                    <a:p>
                      <a:pPr algn="ctr" indent="0" marL="0">
                        <a:buNone/>
                      </a:pPr>
                      <a:r>
                        <a:rPr lang="en-US" sz="1400" i="1" dirty="0">
                          <a:solidFill>
                            <a:srgbClr val="B3561A"/>
                          </a:solidFill>
                        </a:rPr>
                        <a:t>[add]</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c>
                  <a:txBody>
                    <a:bodyPr/>
                    <a:lstStyle/>
                    <a:p>
                      <a:pPr algn="ctr" indent="0" marL="0">
                        <a:buNone/>
                      </a:pPr>
                      <a:r>
                        <a:rPr lang="en-US" sz="1400" i="1" dirty="0">
                          <a:solidFill>
                            <a:srgbClr val="B3561A"/>
                          </a:solidFill>
                        </a:rPr>
                        <a:t>[add]</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r>
              <a:tr h="475488">
                <a:tc>
                  <a:txBody>
                    <a:bodyPr/>
                    <a:lstStyle/>
                    <a:p>
                      <a:pPr indent="0" marL="0">
                        <a:buNone/>
                      </a:pPr>
                      <a:r>
                        <a:rPr lang="en-US" sz="1400" b="1" dirty="0">
                          <a:solidFill>
                            <a:schemeClr val="tx1"/>
                          </a:solidFill>
                        </a:rPr>
                        <a:t>AI-led creative deliverables</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400" i="1" dirty="0">
                          <a:solidFill>
                            <a:srgbClr val="B3561A"/>
                          </a:solidFill>
                        </a:rPr>
                        <a:t>[add]</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c>
                  <a:txBody>
                    <a:bodyPr/>
                    <a:lstStyle/>
                    <a:p>
                      <a:pPr algn="ctr" indent="0" marL="0">
                        <a:buNone/>
                      </a:pPr>
                      <a:r>
                        <a:rPr lang="en-US" sz="1400" i="1" dirty="0">
                          <a:solidFill>
                            <a:srgbClr val="B3561A"/>
                          </a:solidFill>
                        </a:rPr>
                        <a:t>[add]</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c>
                  <a:txBody>
                    <a:bodyPr/>
                    <a:lstStyle/>
                    <a:p>
                      <a:pPr algn="ctr" indent="0" marL="0">
                        <a:buNone/>
                      </a:pPr>
                      <a:r>
                        <a:rPr lang="en-US" sz="1400" i="1" dirty="0">
                          <a:solidFill>
                            <a:srgbClr val="B3561A"/>
                          </a:solidFill>
                        </a:rPr>
                        <a:t>[add]</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r>
              <a:tr h="475488">
                <a:tc>
                  <a:txBody>
                    <a:bodyPr/>
                    <a:lstStyle/>
                    <a:p>
                      <a:pPr indent="0" marL="0">
                        <a:buNone/>
                      </a:pPr>
                      <a:r>
                        <a:rPr lang="en-US" sz="1400" b="1" dirty="0">
                          <a:solidFill>
                            <a:schemeClr val="tx1"/>
                          </a:solidFill>
                        </a:rPr>
                        <a:t>Retainer delivery vs. scope</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400" i="1" dirty="0">
                          <a:solidFill>
                            <a:srgbClr val="B3561A"/>
                          </a:solidFill>
                        </a:rPr>
                        <a:t>[add]</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c>
                  <a:txBody>
                    <a:bodyPr/>
                    <a:lstStyle/>
                    <a:p>
                      <a:pPr algn="ctr" indent="0" marL="0">
                        <a:buNone/>
                      </a:pPr>
                      <a:r>
                        <a:rPr lang="en-US" sz="1400" i="1" dirty="0">
                          <a:solidFill>
                            <a:srgbClr val="B3561A"/>
                          </a:solidFill>
                        </a:rPr>
                        <a:t>[add]</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c>
                  <a:txBody>
                    <a:bodyPr/>
                    <a:lstStyle/>
                    <a:p>
                      <a:pPr algn="ctr" indent="0" marL="0">
                        <a:buNone/>
                      </a:pPr>
                      <a:r>
                        <a:rPr lang="en-US" sz="1400" i="1" dirty="0">
                          <a:solidFill>
                            <a:srgbClr val="B3561A"/>
                          </a:solidFill>
                        </a:rPr>
                        <a:t>[add]</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r>
              <a:tr h="475488">
                <a:tc>
                  <a:txBody>
                    <a:bodyPr/>
                    <a:lstStyle/>
                    <a:p>
                      <a:pPr indent="0" marL="0">
                        <a:buNone/>
                      </a:pPr>
                      <a:r>
                        <a:rPr lang="en-US" sz="1400" b="1" dirty="0">
                          <a:solidFill>
                            <a:schemeClr val="tx1"/>
                          </a:solidFill>
                        </a:rPr>
                        <a:t>On-time project delivery</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400" i="1" dirty="0">
                          <a:solidFill>
                            <a:srgbClr val="B3561A"/>
                          </a:solidFill>
                        </a:rPr>
                        <a:t>[add]</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c>
                  <a:txBody>
                    <a:bodyPr/>
                    <a:lstStyle/>
                    <a:p>
                      <a:pPr algn="ctr" indent="0" marL="0">
                        <a:buNone/>
                      </a:pPr>
                      <a:r>
                        <a:rPr lang="en-US" sz="1400" i="1" dirty="0">
                          <a:solidFill>
                            <a:srgbClr val="B3561A"/>
                          </a:solidFill>
                        </a:rPr>
                        <a:t>[add]</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c>
                  <a:txBody>
                    <a:bodyPr/>
                    <a:lstStyle/>
                    <a:p>
                      <a:pPr algn="ctr" indent="0" marL="0">
                        <a:buNone/>
                      </a:pPr>
                      <a:r>
                        <a:rPr lang="en-US" sz="1400" i="1" dirty="0">
                          <a:solidFill>
                            <a:srgbClr val="B3561A"/>
                          </a:solidFill>
                        </a:rPr>
                        <a:t>[add]</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rgbClr val="FDE5CC"/>
                    </a:solidFill>
                  </a:tcPr>
                </a:tc>
              </a:tr>
            </a:tbl>
          </a:graphicData>
        </a:graphic>
      </p:graphicFrame>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914400" y="2011680"/>
            <a:ext cx="6400800" cy="1280160"/>
          </a:xfrm>
          <a:prstGeom prst="rect">
            <a:avLst/>
          </a:prstGeom>
          <a:noFill/>
          <a:ln/>
        </p:spPr>
        <p:txBody>
          <a:bodyPr wrap="square" lIns="0" tIns="0" rIns="0" bIns="0" rtlCol="0" anchor="ctr"/>
          <a:lstStyle/>
          <a:p>
            <a:pPr indent="0" marL="0">
              <a:buNone/>
            </a:pPr>
            <a:r>
              <a:rPr lang="en-US" sz="6000" b="1" dirty="0">
                <a:solidFill>
                  <a:schemeClr val="tx1"/>
                </a:solidFill>
              </a:rPr>
              <a:t>Thank you</a:t>
            </a:r>
            <a:endParaRPr lang="en-US" sz="6000" dirty="0"/>
          </a:p>
        </p:txBody>
      </p:sp>
      <p:sp>
        <p:nvSpPr>
          <p:cNvPr id="3" name="Text 1"/>
          <p:cNvSpPr txBox="1"/>
          <p:nvPr/>
        </p:nvSpPr>
        <p:spPr>
          <a:xfrm>
            <a:off x="914400" y="3291840"/>
            <a:ext cx="6400800" cy="548640"/>
          </a:xfrm>
          <a:prstGeom prst="rect">
            <a:avLst/>
          </a:prstGeom>
          <a:noFill/>
          <a:ln/>
        </p:spPr>
        <p:txBody>
          <a:bodyPr wrap="square" lIns="0" tIns="0" rIns="0" bIns="0" rtlCol="0" anchor="ctr"/>
          <a:lstStyle/>
          <a:p>
            <a:pPr indent="0" marL="0">
              <a:buNone/>
            </a:pPr>
            <a:r>
              <a:rPr lang="en-US" sz="2200" dirty="0">
                <a:solidFill>
                  <a:schemeClr val="accent5"/>
                </a:solidFill>
              </a:rPr>
              <a:t>Questions and discussion</a:t>
            </a:r>
            <a:endParaRPr lang="en-US" sz="2200" dirty="0"/>
          </a:p>
        </p:txBody>
      </p:sp>
      <p:sp>
        <p:nvSpPr>
          <p:cNvPr id="4" name="Team pill"/>
          <p:cNvSpPr/>
          <p:nvPr/>
        </p:nvSpPr>
        <p:spPr>
          <a:xfrm>
            <a:off x="914400" y="4114800"/>
            <a:ext cx="3566160" cy="502920"/>
          </a:xfrm>
          <a:prstGeom prst="roundRect">
            <a:avLst>
              <a:gd name="adj" fmla="val 49091"/>
            </a:avLst>
          </a:prstGeom>
          <a:solidFill>
            <a:schemeClr val="tx2"/>
          </a:solidFill>
          <a:ln w="12700">
            <a:solidFill>
              <a:schemeClr val="tx2"/>
            </a:solidFill>
            <a:prstDash val="solid"/>
          </a:ln>
        </p:spPr>
      </p:sp>
      <p:sp>
        <p:nvSpPr>
          <p:cNvPr id="5" name="Text 3"/>
          <p:cNvSpPr txBox="1"/>
          <p:nvPr/>
        </p:nvSpPr>
        <p:spPr>
          <a:xfrm>
            <a:off x="914400" y="4114800"/>
            <a:ext cx="3566160" cy="502920"/>
          </a:xfrm>
          <a:prstGeom prst="rect">
            <a:avLst/>
          </a:prstGeom>
          <a:noFill/>
          <a:ln/>
        </p:spPr>
        <p:txBody>
          <a:bodyPr wrap="square" lIns="0" tIns="0" rIns="0" bIns="0" rtlCol="0" anchor="ctr"/>
          <a:lstStyle/>
          <a:p>
            <a:pPr algn="ctr" indent="0" marL="0">
              <a:buNone/>
            </a:pPr>
            <a:r>
              <a:rPr lang="en-US" sz="1500" b="1" dirty="0">
                <a:solidFill>
                  <a:schemeClr val="bg1"/>
                </a:solidFill>
              </a:rPr>
              <a:t>Branding Team · JAS 2026</a:t>
            </a:r>
            <a:endParaRPr lang="en-US" sz="1500" dirty="0"/>
          </a:p>
        </p:txBody>
      </p:sp>
      <p:sp>
        <p:nvSpPr>
          <p:cNvPr id="6" name="Team card"/>
          <p:cNvSpPr/>
          <p:nvPr/>
        </p:nvSpPr>
        <p:spPr>
          <a:xfrm>
            <a:off x="7680960" y="1463040"/>
            <a:ext cx="3566160" cy="3383280"/>
          </a:xfrm>
          <a:prstGeom prst="roundRect">
            <a:avLst>
              <a:gd name="adj" fmla="val 3243"/>
            </a:avLst>
          </a:prstGeom>
          <a:solidFill>
            <a:schemeClr val="bg1"/>
          </a:solidFill>
          <a:ln w="38100">
            <a:solidFill>
              <a:schemeClr val="accent1"/>
            </a:solidFill>
            <a:prstDash val="solid"/>
          </a:ln>
          <a:effectLst>
            <a:outerShdw sx="100000" sy="100000" kx="0" ky="0" algn="bl" rotWithShape="0" blurRad="76200" dist="38100" dir="5400000">
              <a:srgbClr val="000000">
                <a:alpha val="12000"/>
              </a:srgbClr>
            </a:outerShdw>
          </a:effectLst>
        </p:spPr>
      </p:sp>
      <p:sp>
        <p:nvSpPr>
          <p:cNvPr id="7" name="Window dot"/>
          <p:cNvSpPr/>
          <p:nvPr/>
        </p:nvSpPr>
        <p:spPr>
          <a:xfrm>
            <a:off x="10378440" y="1600200"/>
            <a:ext cx="128016" cy="128016"/>
          </a:xfrm>
          <a:prstGeom prst="ellipse">
            <a:avLst/>
          </a:prstGeom>
          <a:solidFill>
            <a:schemeClr val="tx2"/>
          </a:solidFill>
          <a:ln w="12700">
            <a:solidFill>
              <a:schemeClr val="tx2"/>
            </a:solidFill>
            <a:prstDash val="solid"/>
          </a:ln>
        </p:spPr>
      </p:sp>
      <p:sp>
        <p:nvSpPr>
          <p:cNvPr id="8" name="Window dot"/>
          <p:cNvSpPr/>
          <p:nvPr/>
        </p:nvSpPr>
        <p:spPr>
          <a:xfrm>
            <a:off x="10607040" y="1600200"/>
            <a:ext cx="128016" cy="128016"/>
          </a:xfrm>
          <a:prstGeom prst="ellipse">
            <a:avLst/>
          </a:prstGeom>
          <a:solidFill>
            <a:schemeClr val="accent4"/>
          </a:solidFill>
          <a:ln w="12700">
            <a:solidFill>
              <a:schemeClr val="accent4"/>
            </a:solidFill>
            <a:prstDash val="solid"/>
          </a:ln>
        </p:spPr>
      </p:sp>
      <p:sp>
        <p:nvSpPr>
          <p:cNvPr id="9" name="Window dot"/>
          <p:cNvSpPr/>
          <p:nvPr/>
        </p:nvSpPr>
        <p:spPr>
          <a:xfrm>
            <a:off x="10835640" y="1600200"/>
            <a:ext cx="128016" cy="128016"/>
          </a:xfrm>
          <a:prstGeom prst="ellipse">
            <a:avLst/>
          </a:prstGeom>
          <a:solidFill>
            <a:schemeClr val="accent3"/>
          </a:solidFill>
          <a:ln w="12700">
            <a:solidFill>
              <a:schemeClr val="accent3"/>
            </a:solidFill>
            <a:prstDash val="solid"/>
          </a:ln>
        </p:spPr>
      </p:sp>
      <p:sp>
        <p:nvSpPr>
          <p:cNvPr id="10" name="Icon circle"/>
          <p:cNvSpPr/>
          <p:nvPr/>
        </p:nvSpPr>
        <p:spPr>
          <a:xfrm>
            <a:off x="8229600" y="1874520"/>
            <a:ext cx="731520" cy="731520"/>
          </a:xfrm>
          <a:prstGeom prst="ellipse">
            <a:avLst/>
          </a:prstGeom>
          <a:solidFill>
            <a:schemeClr val="tx2"/>
          </a:solidFill>
          <a:ln w="12700">
            <a:solidFill>
              <a:schemeClr val="tx2"/>
            </a:solidFill>
            <a:prstDash val="solid"/>
          </a:ln>
        </p:spPr>
      </p:sp>
      <p:pic>
        <p:nvPicPr>
          <p:cNvPr id="11" name="Image 0" descr="icon">    </p:cNvPr>
          <p:cNvPicPr>
            <a:picLocks noChangeAspect="1"/>
          </p:cNvPicPr>
          <p:nvPr/>
        </p:nvPicPr>
        <p:blipFill>
          <a:blip r:embed="rId1"/>
          <a:stretch>
            <a:fillRect/>
          </a:stretch>
        </p:blipFill>
        <p:spPr>
          <a:xfrm>
            <a:off x="8412480" y="2057400"/>
            <a:ext cx="365760" cy="365760"/>
          </a:xfrm>
          <a:prstGeom prst="rect">
            <a:avLst/>
          </a:prstGeom>
        </p:spPr>
      </p:pic>
      <p:sp>
        <p:nvSpPr>
          <p:cNvPr id="12" name="Text 9"/>
          <p:cNvSpPr txBox="1"/>
          <p:nvPr/>
        </p:nvSpPr>
        <p:spPr>
          <a:xfrm>
            <a:off x="8229600" y="2743200"/>
            <a:ext cx="2743200" cy="182880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Ezhumalai</a:t>
            </a:r>
            <a:endParaRPr lang="en-US" sz="1800" dirty="0"/>
          </a:p>
          <a:p>
            <a:pPr indent="0" marL="0">
              <a:spcAft>
                <a:spcPts val="400"/>
              </a:spcAft>
              <a:buNone/>
            </a:pPr>
            <a:r>
              <a:rPr lang="en-US" sz="1800" b="1" dirty="0">
                <a:solidFill>
                  <a:schemeClr val="tx1"/>
                </a:solidFill>
              </a:rPr>
              <a:t>Gowtham</a:t>
            </a:r>
            <a:endParaRPr lang="en-US" sz="1800" dirty="0"/>
          </a:p>
          <a:p>
            <a:pPr indent="0" marL="0">
              <a:spcAft>
                <a:spcPts val="400"/>
              </a:spcAft>
              <a:buNone/>
            </a:pPr>
            <a:r>
              <a:rPr lang="en-US" sz="1800" b="1" dirty="0">
                <a:solidFill>
                  <a:schemeClr val="tx1"/>
                </a:solidFill>
              </a:rPr>
              <a:t>Keerthana</a:t>
            </a:r>
            <a:endParaRPr lang="en-US" sz="1800" dirty="0"/>
          </a:p>
          <a:p>
            <a:pPr indent="0" marL="0">
              <a:spcAft>
                <a:spcPts val="400"/>
              </a:spcAft>
              <a:buNone/>
            </a:pPr>
            <a:r>
              <a:rPr lang="en-US" sz="1800" b="1" dirty="0">
                <a:solidFill>
                  <a:schemeClr val="tx1"/>
                </a:solidFill>
              </a:rPr>
              <a:t>Naresh</a:t>
            </a:r>
            <a:endParaRPr lang="en-US" sz="1800" dirty="0"/>
          </a:p>
        </p:txBody>
      </p:sp>
      <p:pic>
        <p:nvPicPr>
          <p:cNvPr id="13" name="Image 1" descr="decorative squiggle">    </p:cNvPr>
          <p:cNvPicPr>
            <a:picLocks noChangeAspect="1"/>
          </p:cNvPicPr>
          <p:nvPr/>
        </p:nvPicPr>
        <p:blipFill>
          <a:blip r:embed="rId2"/>
          <a:stretch>
            <a:fillRect/>
          </a:stretch>
        </p:blipFill>
        <p:spPr>
          <a:xfrm>
            <a:off x="9966960" y="5394960"/>
            <a:ext cx="1463040" cy="97840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2800" b="1" dirty="0">
                <a:solidFill>
                  <a:schemeClr val="tx1"/>
                </a:solidFill>
              </a:rPr>
              <a:t>Appendix: where the 1,109 creatives went</a:t>
            </a:r>
            <a:endParaRPr lang="en-US" sz="2800" dirty="0"/>
          </a:p>
        </p:txBody>
      </p:sp>
      <p:sp>
        <p:nvSpPr>
          <p:cNvPr id="3" name="Client chart card"/>
          <p:cNvSpPr/>
          <p:nvPr/>
        </p:nvSpPr>
        <p:spPr>
          <a:xfrm>
            <a:off x="548640" y="1325880"/>
            <a:ext cx="11064240" cy="4800600"/>
          </a:xfrm>
          <a:prstGeom prst="roundRect">
            <a:avLst>
              <a:gd name="adj" fmla="val 2286"/>
            </a:avLst>
          </a:prstGeom>
          <a:solidFill>
            <a:schemeClr val="bg1"/>
          </a:solidFill>
          <a:ln w="15875">
            <a:solidFill>
              <a:schemeClr val="tx1"/>
            </a:solidFill>
            <a:prstDash val="solid"/>
          </a:ln>
          <a:effectLst>
            <a:outerShdw sx="100000" sy="100000" kx="0" ky="0" algn="bl" rotWithShape="0" blurRad="76200" dist="38100" dir="5400000">
              <a:srgbClr val="000000">
                <a:alpha val="12000"/>
              </a:srgbClr>
            </a:outerShdw>
          </a:effectLst>
        </p:spPr>
      </p:sp>
      <p:sp>
        <p:nvSpPr>
          <p:cNvPr id="4" name="Window dot"/>
          <p:cNvSpPr/>
          <p:nvPr/>
        </p:nvSpPr>
        <p:spPr>
          <a:xfrm>
            <a:off x="10744200" y="1463040"/>
            <a:ext cx="128016" cy="128016"/>
          </a:xfrm>
          <a:prstGeom prst="ellipse">
            <a:avLst/>
          </a:prstGeom>
          <a:solidFill>
            <a:schemeClr val="tx2"/>
          </a:solidFill>
          <a:ln w="12700">
            <a:solidFill>
              <a:schemeClr val="tx2"/>
            </a:solidFill>
            <a:prstDash val="solid"/>
          </a:ln>
        </p:spPr>
      </p:sp>
      <p:sp>
        <p:nvSpPr>
          <p:cNvPr id="5" name="Window dot"/>
          <p:cNvSpPr/>
          <p:nvPr/>
        </p:nvSpPr>
        <p:spPr>
          <a:xfrm>
            <a:off x="10972800" y="1463040"/>
            <a:ext cx="128016" cy="128016"/>
          </a:xfrm>
          <a:prstGeom prst="ellipse">
            <a:avLst/>
          </a:prstGeom>
          <a:solidFill>
            <a:schemeClr val="accent4"/>
          </a:solidFill>
          <a:ln w="12700">
            <a:solidFill>
              <a:schemeClr val="accent4"/>
            </a:solidFill>
            <a:prstDash val="solid"/>
          </a:ln>
        </p:spPr>
      </p:sp>
      <p:sp>
        <p:nvSpPr>
          <p:cNvPr id="6" name="Window dot"/>
          <p:cNvSpPr/>
          <p:nvPr/>
        </p:nvSpPr>
        <p:spPr>
          <a:xfrm>
            <a:off x="11201400" y="1463040"/>
            <a:ext cx="128016" cy="128016"/>
          </a:xfrm>
          <a:prstGeom prst="ellipse">
            <a:avLst/>
          </a:prstGeom>
          <a:solidFill>
            <a:schemeClr val="accent3"/>
          </a:solidFill>
          <a:ln w="12700">
            <a:solidFill>
              <a:schemeClr val="accent3"/>
            </a:solidFill>
            <a:prstDash val="solid"/>
          </a:ln>
        </p:spPr>
      </p:sp>
      <p:graphicFrame>
        <p:nvGraphicFramePr>
          <p:cNvPr id="7" name="Chart 0" descr=""/>
          <p:cNvGraphicFramePr/>
          <p:nvPr/>
        </p:nvGraphicFramePr>
        <p:xfrm>
          <a:off x="822960" y="1645920"/>
          <a:ext cx="10515600" cy="434340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2800" b="1" dirty="0">
                <a:solidFill>
                  <a:schemeClr val="tx1"/>
                </a:solidFill>
              </a:rPr>
              <a:t>Appendix: KPI definitions and data sources</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926080"/>
                <a:gridCol w="1097280"/>
                <a:gridCol w="4297680"/>
                <a:gridCol w="2743200"/>
              </a:tblGrid>
              <a:tr h="548640">
                <a:tc>
                  <a:txBody>
                    <a:bodyPr/>
                    <a:lstStyle/>
                    <a:p>
                      <a:pPr indent="0" marL="0">
                        <a:buNone/>
                      </a:pPr>
                      <a:r>
                        <a:rPr lang="en-US" sz="1400" b="1" dirty="0">
                          <a:solidFill>
                            <a:schemeClr val="bg1"/>
                          </a:solidFill>
                        </a:rPr>
                        <a:t>KPI</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Weight</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How it is measured</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Data source</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tx2"/>
                    </a:solidFill>
                  </a:tcPr>
                </a:tc>
              </a:tr>
              <a:tr h="548640">
                <a:tc>
                  <a:txBody>
                    <a:bodyPr/>
                    <a:lstStyle/>
                    <a:p>
                      <a:pPr indent="0" marL="0">
                        <a:buNone/>
                      </a:pPr>
                      <a:r>
                        <a:rPr lang="en-US" sz="1400" b="1" dirty="0">
                          <a:solidFill>
                            <a:schemeClr val="tx1"/>
                          </a:solidFill>
                        </a:rPr>
                        <a:t>On-Time Project Delivery</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25%</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Projects delivered on time ÷ total due × 100</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PixDo</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Design &amp; Creatives outcomes</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30%</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Planned deliverables completed ÷ planned × 100</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Branding Team Scrum Tracker</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Attendance / Production days</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5%</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Leave availed ÷ total working days × 100</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PixDo Leave report</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Retainer scope</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rPr>
                        <a:t>n/a</a:t>
                      </a:r>
                      <a:endParaRPr lang="en-US" sz="1300" dirty="0"/>
                    </a:p>
                  </a:txBody>
                  <a:tcPr marL="54864" marR="54864" marT="54864" marB="54864"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Monthly scope per retainer × 3 = JAS projection</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Retainer &amp; project tracker</a:t>
                      </a:r>
                      <a:endParaRPr lang="en-US" sz="1400" dirty="0"/>
                    </a:p>
                  </a:txBody>
                  <a:tcPr marL="73152" marR="73152" marT="73152" marB="73152" anchor="ctr">
                    <a:lnL w="12700" cap="flat" cmpd="sng" algn="ctr">
                      <a:solidFill>
                        <a:srgbClr val="FFF7EC"/>
                      </a:solidFill>
                      <a:prstDash val="solid"/>
                      <a:round/>
                      <a:headEnd type="none" w="med" len="med"/>
                      <a:tailEnd type="none" w="med" len="med"/>
                    </a:lnL>
                    <a:lnR w="12700" cap="flat" cmpd="sng" algn="ctr">
                      <a:solidFill>
                        <a:srgbClr val="FFF7EC"/>
                      </a:solidFill>
                      <a:prstDash val="solid"/>
                      <a:round/>
                      <a:headEnd type="none" w="med" len="med"/>
                      <a:tailEnd type="none" w="med" len="med"/>
                    </a:lnR>
                    <a:lnT w="12700" cap="flat" cmpd="sng" algn="ctr">
                      <a:solidFill>
                        <a:srgbClr val="FFF7EC"/>
                      </a:solidFill>
                      <a:prstDash val="solid"/>
                      <a:round/>
                      <a:headEnd type="none" w="med" len="med"/>
                      <a:tailEnd type="none" w="med" len="med"/>
                    </a:lnT>
                    <a:lnB w="12700" cap="flat" cmpd="sng" algn="ctr">
                      <a:solidFill>
                        <a:srgbClr val="FFF7EC"/>
                      </a:solidFill>
                      <a:prstDash val="solid"/>
                      <a:round/>
                      <a:headEnd type="none" w="med" len="med"/>
                      <a:tailEnd type="none" w="med" len="med"/>
                    </a:lnB>
                    <a:solidFill>
                      <a:schemeClr val="bg1"/>
                    </a:solidFill>
                  </a:tcPr>
                </a:tc>
              </a:tr>
            </a:tbl>
          </a:graphicData>
        </a:graphic>
      </p:graphicFrame>
      <p:sp>
        <p:nvSpPr>
          <p:cNvPr id="4" name="Data placeholder"/>
          <p:cNvSpPr/>
          <p:nvPr/>
        </p:nvSpPr>
        <p:spPr>
          <a:xfrm>
            <a:off x="548640" y="4343400"/>
            <a:ext cx="11064240" cy="1188720"/>
          </a:xfrm>
          <a:prstGeom prst="roundRect">
            <a:avLst>
              <a:gd name="adj" fmla="val 7692"/>
            </a:avLst>
          </a:prstGeom>
          <a:solidFill>
            <a:schemeClr val="accent6"/>
          </a:solidFill>
          <a:ln w="19050">
            <a:solidFill>
              <a:schemeClr val="accent1"/>
            </a:solidFill>
            <a:prstDash val="dash"/>
          </a:ln>
        </p:spPr>
      </p:sp>
      <p:sp>
        <p:nvSpPr>
          <p:cNvPr id="5" name="Text 2"/>
          <p:cNvSpPr txBox="1"/>
          <p:nvPr/>
        </p:nvSpPr>
        <p:spPr>
          <a:xfrm>
            <a:off x="731520" y="4434840"/>
            <a:ext cx="10698480" cy="1005840"/>
          </a:xfrm>
          <a:prstGeom prst="rect">
            <a:avLst/>
          </a:prstGeom>
          <a:noFill/>
          <a:ln/>
        </p:spPr>
        <p:txBody>
          <a:bodyPr wrap="square" lIns="0" tIns="0" rIns="0" bIns="0" rtlCol="0" anchor="ctr"/>
          <a:lstStyle/>
          <a:p>
            <a:pPr indent="0" marL="0">
              <a:buNone/>
            </a:pPr>
            <a:r>
              <a:rPr lang="en-US" sz="1200" b="1" dirty="0">
                <a:solidFill>
                  <a:srgbClr val="B3561A"/>
                </a:solidFill>
              </a:rPr>
              <a:t>TO ADD  </a:t>
            </a:r>
            <a:endParaRPr lang="en-US" sz="1200" dirty="0"/>
          </a:p>
          <a:p>
            <a:pPr indent="0" marL="0">
              <a:buNone/>
            </a:pPr>
            <a:r>
              <a:rPr lang="en-US" sz="1400" i="1" dirty="0">
                <a:solidFill>
                  <a:srgbClr val="B3561A"/>
                </a:solidFill>
              </a:rPr>
              <a:t>Links to the backing reports (PixDo export, Scrum Tracker, creative pivot, leave report), so every number on the KPI slides can be traced.</a:t>
            </a:r>
            <a:endParaRPr lang="en-US" sz="1200" dirty="0"/>
          </a:p>
        </p:txBody>
      </p:sp>
      <p:sp>
        <p:nvSpPr>
          <p:cNvPr id="25" name="Slide Number Placeholder 0"/>
          <p:cNvSpPr>
            <a:spLocks noGrp="1"/>
          </p:cNvSpPr>
          <p:nvPr>
            <p:ph type="sldNum" sz="quarter" idx="4294967295"/>
          </p:nvPr>
        </p:nvSpPr>
        <p:spPr>
          <a:xfrm>
            <a:off x="1124712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Branding JAS Review">
  <a:themeElements>
    <a:clrScheme name="Branding JAS Review">
      <a:dk1>
        <a:srgbClr val="1F1F1F"/>
      </a:dk1>
      <a:lt1>
        <a:srgbClr val="FFFFFF"/>
      </a:lt1>
      <a:dk2>
        <a:srgbClr val="2E7D4F"/>
      </a:dk2>
      <a:lt2>
        <a:srgbClr val="FFF7EC"/>
      </a:lt2>
      <a:accent1>
        <a:srgbClr val="F28C28"/>
      </a:accent1>
      <a:accent2>
        <a:srgbClr val="2E7D4F"/>
      </a:accent2>
      <a:accent3>
        <a:srgbClr val="D9472F"/>
      </a:accent3>
      <a:accent4>
        <a:srgbClr val="F6B93B"/>
      </a:accent4>
      <a:accent5>
        <a:srgbClr val="5F5A54"/>
      </a:accent5>
      <a:accent6>
        <a:srgbClr val="FDE5CC"/>
      </a:accent6>
      <a:hlink>
        <a:srgbClr val="2E7D4F"/>
      </a:hlink>
      <a:folHlink>
        <a:srgbClr val="5F5A54"/>
      </a:folHlink>
    </a:clrScheme>
    <a:fontScheme name="Branding JAS Revie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Branding Team - JAS 2026 Review and OND Plan</dc:title>
  <dc:subject>PptxGenJS Presentation</dc:subject>
  <dc:creator>PptxGenJS</dc:creator>
  <cp:lastModifiedBy>PptxGenJS</cp:lastModifiedBy>
  <cp:revision>1</cp:revision>
  <dcterms:created xsi:type="dcterms:W3CDTF">2026-10-28T14:10:59Z</dcterms:created>
  <dcterms:modified xsi:type="dcterms:W3CDTF">2026-10-28T14:10:59Z</dcterms:modified>
</cp:coreProperties>
</file>