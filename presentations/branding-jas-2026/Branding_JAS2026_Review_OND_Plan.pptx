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c391c60-9ea9-4acb-5db1-14c01799da4d}">
          <p14:sldIdLst>
            <p14:sldId id="256"/>
          </p14:sldIdLst>
        </p14:section>
        <p14:section name="JAS review" id="{084eec10-f2d5-dde9-c609-c6de7b57dddc}">
          <p14:sldIdLst>
            <p14:sldId id="257"/>
            <p14:sldId id="258"/>
            <p14:sldId id="259"/>
            <p14:sldId id="260"/>
            <p14:sldId id="261"/>
            <p14:sldId id="262"/>
          </p14:sldIdLst>
        </p14:section>
        <p14:section name="OND plan" id="{3a274aab-c0ca-fa79-b7cd-5466ba236775}">
          <p14:sldIdLst>
            <p14:sldId id="263"/>
          </p14:sldIdLst>
        </p14:section>
        <p14:section name="Close" id="{ab7c3918-5139-b6cc-e2da-4ca7a97eb434}">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Master creatives</c:v>
                </c:pt>
              </c:strCache>
            </c:strRef>
          </c:tx>
          <c:spPr>
            <a:solidFill>
              <a:srgbClr val="0B5394"/>
            </a:solidFill>
            <a:effectLst/>
          </c:spPr>
          <c:invertIfNegative val="0"/>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Ezhumalai</c:v>
                  </c:pt>
                  <c:pt idx="1">
                    <c:v>Gowtham</c:v>
                  </c:pt>
                  <c:pt idx="2">
                    <c:v>Keerthana</c:v>
                  </c:pt>
                  <c:pt idx="3">
                    <c:v>Naresh</c:v>
                  </c:pt>
                </c:lvl>
              </c:multiLvlStrCache>
            </c:multiLvlStrRef>
          </c:cat>
          <c:val>
            <c:numRef>
              <c:f>Sheet1!$B$2:$B$5</c:f>
              <c:numCache>
                <c:formatCode>General</c:formatCode>
                <c:ptCount val="4"/>
                <c:pt idx="0">
                  <c:v>5</c:v>
                </c:pt>
                <c:pt idx="1">
                  <c:v>70</c:v>
                </c:pt>
                <c:pt idx="2">
                  <c:v>6</c:v>
                </c:pt>
                <c:pt idx="3">
                  <c:v>23</c:v>
                </c:pt>
              </c:numCache>
            </c:numRef>
          </c:val>
        </c:ser>
        <c:ser>
          <c:idx val="1"/>
          <c:order val="1"/>
          <c:tx>
            <c:strRef>
              <c:f>Sheet1!$C$1</c:f>
              <c:strCache>
                <c:ptCount val="1"/>
                <c:pt idx="0">
                  <c:v>Creatives</c:v>
                </c:pt>
              </c:strCache>
            </c:strRef>
          </c:tx>
          <c:spPr>
            <a:solidFill>
              <a:srgbClr val="CC0000"/>
            </a:solidFill>
            <a:effectLst/>
          </c:spPr>
          <c:invertIfNegative val="0"/>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Ezhumalai</c:v>
                  </c:pt>
                  <c:pt idx="1">
                    <c:v>Gowtham</c:v>
                  </c:pt>
                  <c:pt idx="2">
                    <c:v>Keerthana</c:v>
                  </c:pt>
                  <c:pt idx="3">
                    <c:v>Naresh</c:v>
                  </c:pt>
                </c:lvl>
              </c:multiLvlStrCache>
            </c:multiLvlStrRef>
          </c:cat>
          <c:val>
            <c:numRef>
              <c:f>Sheet1!$C$2:$C$5</c:f>
              <c:numCache>
                <c:formatCode>General</c:formatCode>
                <c:ptCount val="4"/>
                <c:pt idx="0">
                  <c:v>101</c:v>
                </c:pt>
                <c:pt idx="1">
                  <c:v>118</c:v>
                </c:pt>
                <c:pt idx="2">
                  <c:v>91</c:v>
                </c:pt>
                <c:pt idx="3">
                  <c:v>199</c:v>
                </c:pt>
              </c:numCache>
            </c:numRef>
          </c:val>
        </c:ser>
        <c:ser>
          <c:idx val="2"/>
          <c:order val="2"/>
          <c:tx>
            <c:strRef>
              <c:f>Sheet1!$D$1</c:f>
              <c:strCache>
                <c:ptCount val="1"/>
                <c:pt idx="0">
                  <c:v>Adaptations</c:v>
                </c:pt>
              </c:strCache>
            </c:strRef>
          </c:tx>
          <c:spPr>
            <a:solidFill>
              <a:srgbClr val="B7B7B7"/>
            </a:solidFill>
            <a:effectLst/>
          </c:spPr>
          <c:invertIfNegative val="0"/>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Ezhumalai</c:v>
                  </c:pt>
                  <c:pt idx="1">
                    <c:v>Gowtham</c:v>
                  </c:pt>
                  <c:pt idx="2">
                    <c:v>Keerthana</c:v>
                  </c:pt>
                  <c:pt idx="3">
                    <c:v>Naresh</c:v>
                  </c:pt>
                </c:lvl>
              </c:multiLvlStrCache>
            </c:multiLvlStrRef>
          </c:cat>
          <c:val>
            <c:numRef>
              <c:f>Sheet1!$D$2:$D$5</c:f>
              <c:numCache>
                <c:formatCode>General</c:formatCode>
                <c:ptCount val="4"/>
                <c:pt idx="0">
                  <c:v>93</c:v>
                </c:pt>
                <c:pt idx="1">
                  <c:v>11</c:v>
                </c:pt>
                <c:pt idx="2">
                  <c:v>302</c:v>
                </c:pt>
                <c:pt idx="3">
                  <c:v>90</c:v>
                </c:pt>
              </c:numCache>
            </c:numRef>
          </c:val>
        </c:ser>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3434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43434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(15 sec): 'In February we shared our 2026 roadmap. Here's what we delivered against it in July to September, how we score on our KPIs, and what we commit to for Oct to Dec.'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Lead with the headline KPI score. 1,109 creatives, 104 of them new concepts. 81% (899 units) went to the 6 retainers: TMB, Star Health, VGN, TVS Credit, Maxivision, Athmalaya. Name the watch-outs yourself before anyone else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Leadership saw the Feb roadmap, so they'll judge JAS against it. Say it before they do. Volume: in Feb we said 200–250/month and 'close to optimal capacity'; JAS ran at ~370/month with the same 4 people. If the resource ask is still pending, that's the argument for it (and the 2 slips + one-designer concept dependency answer 'why hire if you managed?'). KIMS was a Type 2 retainer in Feb and isn't in the current list: confirm and have a one-line reason. Gen-AI photography / annual reports: if nothing happened, say whether parked or moved to 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story to land: promised, carried over, delivered. CHECK FIRST: the project tracker still shows TVS Green 'TVC Commercial Ads - 3' as Oct / In-progress. Update it or someone will catch the mismatch. If the ads were not AI-produced, drop the 'AI' 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Sources: on-time from PixDo / project tracker; design &amp; creatives from the Branding Team Scrum Tracker; attendance from the PixDo leave report. Upsell, Project Retention and CSAT are deliberately left off. If asked: 'We start tracking them from OND with a defined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Scope = monthly scope from the retainer tracker × 3. Delivered = JAS creative pivot by client. Athmalaya at 3 of 6 posts is a real shortfall either way, so have the reason ready. Star Health's scope says '70 units = 35–40 creatives': confirm how a unit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Totals: Ezhumalai 199, Gowtham 199, Keerthana 399, Naresh 312. Don't rank by raw volume: a master creative is not equal to an adaptation. Key-person risk on concepts: name the OND mitigation (e.g., a second designer pairs on concepts). Checkpoint and Xylemx started in August and are still open at the end of October: give the reason and the new date, not an apology.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October is nearly over, so that column should be actuals. Give each AI target a number and an owner. End with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Backing reports to have open: PixDo export, Branding Team Scrum Tracker, creative pivot, PixDo leave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94360" y="868680"/>
            <a:ext cx="6949440" cy="502920"/>
          </a:xfrm>
          <a:prstGeom prst="rect">
            <a:avLst/>
          </a:prstGeom>
          <a:noFill/>
          <a:ln/>
        </p:spPr>
        <p:txBody>
          <a:bodyPr wrap="square" rtlCol="0"/>
          <a:lstStyle>
            <a:lvl1pPr algn="l" indent="0" marL="0">
              <a:buNone/>
              <a:defRPr lang="en-US" sz="2800" dirty="0">
                <a:solidFill>
                  <a:schemeClr val="tx2"/>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1828800" y="3383280"/>
            <a:ext cx="5486400" cy="1005840"/>
          </a:xfrm>
          <a:prstGeom prst="rect">
            <a:avLst/>
          </a:prstGeom>
          <a:noFill/>
          <a:ln/>
        </p:spPr>
        <p:txBody>
          <a:bodyPr wrap="square" lIns="0" tIns="0" rIns="0" bIns="0" rtlCol="0" anchor="ctr"/>
          <a:lstStyle/>
          <a:p>
            <a:pPr algn="ctr" indent="0" marL="0">
              <a:spcAft>
                <a:spcPts val="900"/>
              </a:spcAft>
              <a:buNone/>
            </a:pPr>
            <a:r>
              <a:rPr lang="en-US" sz="1500" b="1" dirty="0">
                <a:solidFill>
                  <a:srgbClr val="000000"/>
                </a:solidFill>
              </a:rPr>
              <a:t>Branding Team – JAS 2026 Review &amp; OND Plan</a:t>
            </a:r>
            <a:endParaRPr lang="en-US" sz="1500" dirty="0"/>
          </a:p>
          <a:p>
            <a:pPr algn="ctr" indent="0" marL="0">
              <a:spcAft>
                <a:spcPts val="900"/>
              </a:spcAft>
              <a:buNone/>
            </a:pPr>
            <a:r>
              <a:rPr lang="en-US" sz="1300" b="1" dirty="0">
                <a:solidFill>
                  <a:srgbClr val="000000"/>
                </a:solidFill>
              </a:rPr>
              <a:t>Projection vs. Actually Done</a:t>
            </a:r>
            <a:endParaRPr lang="en-US" sz="1500" dirty="0"/>
          </a:p>
          <a:p>
            <a:pPr algn="ctr" indent="0" marL="0">
              <a:spcAft>
                <a:spcPts val="900"/>
              </a:spcAft>
              <a:buNone/>
            </a:pPr>
            <a:r>
              <a:rPr lang="en-US" sz="1300" b="1" dirty="0">
                <a:solidFill>
                  <a:srgbClr val="000000"/>
                </a:solidFill>
              </a:rPr>
              <a:t>Date: 30-10-2026  ·  Blue Iris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94360" y="868680"/>
            <a:ext cx="6949440" cy="502920"/>
          </a:xfrm>
          <a:prstGeom prst="rect">
            <a:avLst/>
          </a:prstGeom>
          <a:noFill/>
          <a:ln/>
        </p:spPr>
        <p:txBody>
          <a:bodyPr wrap="square" lIns="0" tIns="0" rIns="0" bIns="0" rtlCol="0" anchor="ctr"/>
          <a:lstStyle/>
          <a:p>
            <a:pPr algn="l" indent="0" marL="0">
              <a:buNone/>
            </a:pPr>
            <a:r>
              <a:rPr lang="en-US" sz="2800" dirty="0">
                <a:solidFill>
                  <a:schemeClr val="tx2"/>
                </a:solidFill>
              </a:rPr>
              <a:t>JAS at a Glance</a:t>
            </a:r>
            <a:endParaRPr lang="en-US" sz="2800" dirty="0"/>
          </a:p>
        </p:txBody>
      </p:sp>
      <p:sp>
        <p:nvSpPr>
          <p:cNvPr id="3" name="Text 1"/>
          <p:cNvSpPr txBox="1"/>
          <p:nvPr/>
        </p:nvSpPr>
        <p:spPr>
          <a:xfrm>
            <a:off x="594360" y="1463040"/>
            <a:ext cx="1645920" cy="548640"/>
          </a:xfrm>
          <a:prstGeom prst="rect">
            <a:avLst/>
          </a:prstGeom>
          <a:noFill/>
          <a:ln/>
        </p:spPr>
        <p:txBody>
          <a:bodyPr wrap="square" lIns="0" tIns="0" rIns="0" bIns="0" rtlCol="0" anchor="ctr"/>
          <a:lstStyle/>
          <a:p>
            <a:pPr indent="0" marL="0">
              <a:buNone/>
            </a:pPr>
            <a:r>
              <a:rPr lang="en-US" sz="3400" dirty="0">
                <a:solidFill>
                  <a:schemeClr val="tx2"/>
                </a:solidFill>
                <a:latin typeface="Impact" pitchFamily="34" charset="0"/>
                <a:ea typeface="Impact" pitchFamily="34" charset="-122"/>
                <a:cs typeface="Impact" pitchFamily="34" charset="-120"/>
              </a:rPr>
              <a:t>1,109</a:t>
            </a:r>
            <a:endParaRPr lang="en-US" sz="3400" dirty="0"/>
          </a:p>
        </p:txBody>
      </p:sp>
      <p:sp>
        <p:nvSpPr>
          <p:cNvPr id="4" name="Text 2"/>
          <p:cNvSpPr txBox="1"/>
          <p:nvPr/>
        </p:nvSpPr>
        <p:spPr>
          <a:xfrm>
            <a:off x="594360" y="2029968"/>
            <a:ext cx="1645920" cy="384048"/>
          </a:xfrm>
          <a:prstGeom prst="rect">
            <a:avLst/>
          </a:prstGeom>
          <a:noFill/>
          <a:ln/>
        </p:spPr>
        <p:txBody>
          <a:bodyPr wrap="square" lIns="0" tIns="0" rIns="0" bIns="0" rtlCol="0" anchor="ctr"/>
          <a:lstStyle/>
          <a:p>
            <a:pPr indent="0" marL="0">
              <a:buNone/>
            </a:pPr>
            <a:r>
              <a:rPr lang="en-US" sz="1000" dirty="0">
                <a:solidFill>
                  <a:schemeClr val="tx1"/>
                </a:solidFill>
              </a:rPr>
              <a:t>creatives delivered</a:t>
            </a:r>
            <a:endParaRPr lang="en-US" sz="1000" dirty="0"/>
          </a:p>
          <a:p>
            <a:pPr indent="0" marL="0">
              <a:buNone/>
            </a:pPr>
            <a:r>
              <a:rPr lang="en-US" sz="1000" dirty="0">
                <a:solidFill>
                  <a:schemeClr val="tx1"/>
                </a:solidFill>
              </a:rPr>
              <a:t>(Jul – Sep)</a:t>
            </a:r>
            <a:endParaRPr lang="en-US" sz="1000" dirty="0"/>
          </a:p>
        </p:txBody>
      </p:sp>
      <p:sp>
        <p:nvSpPr>
          <p:cNvPr id="5" name="Text 3"/>
          <p:cNvSpPr txBox="1"/>
          <p:nvPr/>
        </p:nvSpPr>
        <p:spPr>
          <a:xfrm>
            <a:off x="2331720" y="1463040"/>
            <a:ext cx="1645920" cy="548640"/>
          </a:xfrm>
          <a:prstGeom prst="rect">
            <a:avLst/>
          </a:prstGeom>
          <a:noFill/>
          <a:ln/>
        </p:spPr>
        <p:txBody>
          <a:bodyPr wrap="square" lIns="0" tIns="0" rIns="0" bIns="0" rtlCol="0" anchor="ctr"/>
          <a:lstStyle/>
          <a:p>
            <a:pPr indent="0" marL="0">
              <a:buNone/>
            </a:pPr>
            <a:r>
              <a:rPr lang="en-US" sz="3400" dirty="0">
                <a:solidFill>
                  <a:schemeClr val="tx2"/>
                </a:solidFill>
                <a:latin typeface="Impact" pitchFamily="34" charset="0"/>
                <a:ea typeface="Impact" pitchFamily="34" charset="-122"/>
                <a:cs typeface="Impact" pitchFamily="34" charset="-120"/>
              </a:rPr>
              <a:t>104</a:t>
            </a:r>
            <a:endParaRPr lang="en-US" sz="3400" dirty="0"/>
          </a:p>
        </p:txBody>
      </p:sp>
      <p:sp>
        <p:nvSpPr>
          <p:cNvPr id="6" name="Text 4"/>
          <p:cNvSpPr txBox="1"/>
          <p:nvPr/>
        </p:nvSpPr>
        <p:spPr>
          <a:xfrm>
            <a:off x="2331720" y="2029968"/>
            <a:ext cx="1645920" cy="384048"/>
          </a:xfrm>
          <a:prstGeom prst="rect">
            <a:avLst/>
          </a:prstGeom>
          <a:noFill/>
          <a:ln/>
        </p:spPr>
        <p:txBody>
          <a:bodyPr wrap="square" lIns="0" tIns="0" rIns="0" bIns="0" rtlCol="0" anchor="ctr"/>
          <a:lstStyle/>
          <a:p>
            <a:pPr indent="0" marL="0">
              <a:buNone/>
            </a:pPr>
            <a:r>
              <a:rPr lang="en-US" sz="1000" dirty="0">
                <a:solidFill>
                  <a:schemeClr val="tx1"/>
                </a:solidFill>
              </a:rPr>
              <a:t>master creatives</a:t>
            </a:r>
            <a:endParaRPr lang="en-US" sz="1000" dirty="0"/>
          </a:p>
          <a:p>
            <a:pPr indent="0" marL="0">
              <a:buNone/>
            </a:pPr>
            <a:r>
              <a:rPr lang="en-US" sz="1000" dirty="0">
                <a:solidFill>
                  <a:schemeClr val="tx1"/>
                </a:solidFill>
              </a:rPr>
              <a:t>(new concepts)</a:t>
            </a:r>
            <a:endParaRPr lang="en-US" sz="1000" dirty="0"/>
          </a:p>
        </p:txBody>
      </p:sp>
      <p:sp>
        <p:nvSpPr>
          <p:cNvPr id="7" name="Text 5"/>
          <p:cNvSpPr txBox="1"/>
          <p:nvPr/>
        </p:nvSpPr>
        <p:spPr>
          <a:xfrm>
            <a:off x="4069080" y="1463040"/>
            <a:ext cx="1645920" cy="548640"/>
          </a:xfrm>
          <a:prstGeom prst="rect">
            <a:avLst/>
          </a:prstGeom>
          <a:noFill/>
          <a:ln/>
        </p:spPr>
        <p:txBody>
          <a:bodyPr wrap="square" lIns="0" tIns="0" rIns="0" bIns="0" rtlCol="0" anchor="ctr"/>
          <a:lstStyle/>
          <a:p>
            <a:pPr indent="0" marL="0">
              <a:buNone/>
            </a:pPr>
            <a:r>
              <a:rPr lang="en-US" sz="3400" dirty="0">
                <a:solidFill>
                  <a:schemeClr val="tx2"/>
                </a:solidFill>
                <a:latin typeface="Impact" pitchFamily="34" charset="0"/>
                <a:ea typeface="Impact" pitchFamily="34" charset="-122"/>
                <a:cs typeface="Impact" pitchFamily="34" charset="-120"/>
              </a:rPr>
              <a:t>81%</a:t>
            </a:r>
            <a:endParaRPr lang="en-US" sz="3400" dirty="0"/>
          </a:p>
        </p:txBody>
      </p:sp>
      <p:sp>
        <p:nvSpPr>
          <p:cNvPr id="8" name="Text 6"/>
          <p:cNvSpPr txBox="1"/>
          <p:nvPr/>
        </p:nvSpPr>
        <p:spPr>
          <a:xfrm>
            <a:off x="4069080" y="2029968"/>
            <a:ext cx="1645920" cy="384048"/>
          </a:xfrm>
          <a:prstGeom prst="rect">
            <a:avLst/>
          </a:prstGeom>
          <a:noFill/>
          <a:ln/>
        </p:spPr>
        <p:txBody>
          <a:bodyPr wrap="square" lIns="0" tIns="0" rIns="0" bIns="0" rtlCol="0" anchor="ctr"/>
          <a:lstStyle/>
          <a:p>
            <a:pPr indent="0" marL="0">
              <a:buNone/>
            </a:pPr>
            <a:r>
              <a:rPr lang="en-US" sz="1000" dirty="0">
                <a:solidFill>
                  <a:schemeClr val="tx1"/>
                </a:solidFill>
              </a:rPr>
              <a:t>of output went to</a:t>
            </a:r>
            <a:endParaRPr lang="en-US" sz="1000" dirty="0"/>
          </a:p>
          <a:p>
            <a:pPr indent="0" marL="0">
              <a:buNone/>
            </a:pPr>
            <a:r>
              <a:rPr lang="en-US" sz="1000" dirty="0">
                <a:solidFill>
                  <a:schemeClr val="tx1"/>
                </a:solidFill>
              </a:rPr>
              <a:t>the 6 live retainers</a:t>
            </a:r>
            <a:endParaRPr lang="en-US" sz="1000" dirty="0"/>
          </a:p>
        </p:txBody>
      </p:sp>
      <p:sp>
        <p:nvSpPr>
          <p:cNvPr id="9" name="Text 7"/>
          <p:cNvSpPr txBox="1"/>
          <p:nvPr/>
        </p:nvSpPr>
        <p:spPr>
          <a:xfrm>
            <a:off x="5806440" y="1463040"/>
            <a:ext cx="1645920" cy="548640"/>
          </a:xfrm>
          <a:prstGeom prst="rect">
            <a:avLst/>
          </a:prstGeom>
          <a:noFill/>
          <a:ln/>
        </p:spPr>
        <p:txBody>
          <a:bodyPr wrap="square" lIns="0" tIns="0" rIns="0" bIns="0" rtlCol="0" anchor="ctr"/>
          <a:lstStyle/>
          <a:p>
            <a:pPr indent="0" marL="0">
              <a:buNone/>
            </a:pPr>
            <a:r>
              <a:rPr lang="en-US" sz="3400" dirty="0">
                <a:solidFill>
                  <a:schemeClr val="tx2"/>
                </a:solidFill>
                <a:latin typeface="Impact" pitchFamily="34" charset="0"/>
                <a:ea typeface="Impact" pitchFamily="34" charset="-122"/>
                <a:cs typeface="Impact" pitchFamily="34" charset="-120"/>
              </a:rPr>
              <a:t>6 / 8</a:t>
            </a:r>
            <a:endParaRPr lang="en-US" sz="3400" dirty="0"/>
          </a:p>
        </p:txBody>
      </p:sp>
      <p:sp>
        <p:nvSpPr>
          <p:cNvPr id="10" name="Text 8"/>
          <p:cNvSpPr txBox="1"/>
          <p:nvPr/>
        </p:nvSpPr>
        <p:spPr>
          <a:xfrm>
            <a:off x="5806440" y="2029968"/>
            <a:ext cx="1645920" cy="384048"/>
          </a:xfrm>
          <a:prstGeom prst="rect">
            <a:avLst/>
          </a:prstGeom>
          <a:noFill/>
          <a:ln/>
        </p:spPr>
        <p:txBody>
          <a:bodyPr wrap="square" lIns="0" tIns="0" rIns="0" bIns="0" rtlCol="0" anchor="ctr"/>
          <a:lstStyle/>
          <a:p>
            <a:pPr indent="0" marL="0">
              <a:buNone/>
            </a:pPr>
            <a:r>
              <a:rPr lang="en-US" sz="1000" dirty="0">
                <a:solidFill>
                  <a:schemeClr val="tx1"/>
                </a:solidFill>
              </a:rPr>
              <a:t>projects closed</a:t>
            </a:r>
            <a:endParaRPr lang="en-US" sz="1000" dirty="0"/>
          </a:p>
          <a:p>
            <a:pPr indent="0" marL="0">
              <a:buNone/>
            </a:pPr>
            <a:r>
              <a:rPr lang="en-US" sz="1000" dirty="0">
                <a:solidFill>
                  <a:schemeClr val="tx1"/>
                </a:solidFill>
              </a:rPr>
              <a:t>on time</a:t>
            </a:r>
            <a:endParaRPr lang="en-US" sz="1000" dirty="0"/>
          </a:p>
        </p:txBody>
      </p:sp>
      <p:sp>
        <p:nvSpPr>
          <p:cNvPr id="11" name="Text 9"/>
          <p:cNvSpPr txBox="1"/>
          <p:nvPr/>
        </p:nvSpPr>
        <p:spPr>
          <a:xfrm>
            <a:off x="594360" y="2606040"/>
            <a:ext cx="3657600" cy="274320"/>
          </a:xfrm>
          <a:prstGeom prst="rect">
            <a:avLst/>
          </a:prstGeom>
          <a:noFill/>
          <a:ln/>
        </p:spPr>
        <p:txBody>
          <a:bodyPr wrap="square" lIns="0" tIns="0" rIns="0" bIns="0" rtlCol="0" anchor="ctr"/>
          <a:lstStyle/>
          <a:p>
            <a:pPr indent="0" marL="0">
              <a:buNone/>
            </a:pPr>
            <a:r>
              <a:rPr lang="en-US" sz="1300" b="1" dirty="0">
                <a:solidFill>
                  <a:schemeClr val="tx1"/>
                </a:solidFill>
              </a:rPr>
              <a:t>Watch-outs</a:t>
            </a:r>
            <a:endParaRPr lang="en-US" sz="1300" dirty="0"/>
          </a:p>
        </p:txBody>
      </p:sp>
      <p:sp>
        <p:nvSpPr>
          <p:cNvPr id="12" name="Text 10"/>
          <p:cNvSpPr txBox="1"/>
          <p:nvPr/>
        </p:nvSpPr>
        <p:spPr>
          <a:xfrm>
            <a:off x="594360" y="2880360"/>
            <a:ext cx="4114800" cy="11887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1"/>
                </a:solidFill>
              </a:rPr>
              <a:t>TMB alone is 44% of all output: heavy reliance on one client</a:t>
            </a:r>
            <a:endParaRPr lang="en-US" sz="1100" dirty="0"/>
          </a:p>
          <a:p>
            <a:pPr marL="342900" indent="-342900">
              <a:spcAft>
                <a:spcPts val="400"/>
              </a:spcAft>
              <a:buSzPct val="100000"/>
              <a:buChar char="•"/>
            </a:pPr>
            <a:r>
              <a:rPr lang="en-US" sz="1100" dirty="0">
                <a:solidFill>
                  <a:schemeClr val="tx1"/>
                </a:solidFill>
              </a:rPr>
              <a:t>67% of master creatives came from one designer: key-person risk</a:t>
            </a:r>
            <a:endParaRPr lang="en-US" sz="1100" dirty="0"/>
          </a:p>
          <a:p>
            <a:pPr marL="342900" indent="-342900">
              <a:spcAft>
                <a:spcPts val="400"/>
              </a:spcAft>
              <a:buSzPct val="100000"/>
              <a:buChar char="•"/>
            </a:pPr>
            <a:r>
              <a:rPr lang="en-US" sz="1100" dirty="0">
                <a:solidFill>
                  <a:schemeClr val="tx1"/>
                </a:solidFill>
              </a:rPr>
              <a:t>2 projects slipped: Checkpoint Diagnostic, Xylemx</a:t>
            </a:r>
            <a:endParaRPr lang="en-US" sz="1100" dirty="0"/>
          </a:p>
        </p:txBody>
      </p:sp>
      <p:sp>
        <p:nvSpPr>
          <p:cNvPr id="13" name="Data placeholder"/>
          <p:cNvSpPr/>
          <p:nvPr/>
        </p:nvSpPr>
        <p:spPr>
          <a:xfrm>
            <a:off x="4937760" y="2606040"/>
            <a:ext cx="2606040" cy="1417320"/>
          </a:xfrm>
          <a:prstGeom prst="rect">
            <a:avLst/>
          </a:prstGeom>
          <a:solidFill>
            <a:schemeClr val="bg1">
              <a:alpha val="70000"/>
            </a:schemeClr>
          </a:solidFill>
          <a:ln w="15875">
            <a:solidFill>
              <a:schemeClr val="accent2"/>
            </a:solidFill>
            <a:prstDash val="dash"/>
          </a:ln>
        </p:spPr>
      </p:sp>
      <p:sp>
        <p:nvSpPr>
          <p:cNvPr id="14" name="Text 12"/>
          <p:cNvSpPr txBox="1"/>
          <p:nvPr/>
        </p:nvSpPr>
        <p:spPr>
          <a:xfrm>
            <a:off x="5047488" y="2606040"/>
            <a:ext cx="2386584" cy="1417320"/>
          </a:xfrm>
          <a:prstGeom prst="rect">
            <a:avLst/>
          </a:prstGeom>
          <a:noFill/>
          <a:ln/>
        </p:spPr>
        <p:txBody>
          <a:bodyPr wrap="square" lIns="0" tIns="0" rIns="0" bIns="0" rtlCol="0" anchor="ctr"/>
          <a:lstStyle/>
          <a:p>
            <a:pPr indent="0" marL="0">
              <a:buNone/>
            </a:pPr>
            <a:r>
              <a:rPr lang="en-US" sz="1100" b="1" dirty="0">
                <a:solidFill>
                  <a:schemeClr val="accent2"/>
                </a:solidFill>
              </a:rPr>
              <a:t>TO ADD: </a:t>
            </a:r>
            <a:pPr indent="0" marL="0">
              <a:buNone/>
            </a:pPr>
            <a:r>
              <a:rPr lang="en-US" sz="1100" i="1" dirty="0">
                <a:solidFill>
                  <a:schemeClr val="accent2"/>
                </a:solidFill>
              </a:rPr>
              <a:t>Overall weighted KPI score for JAS, plus the biggest win and biggest miss in one line each.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94360" y="868680"/>
            <a:ext cx="6949440" cy="502920"/>
          </a:xfrm>
          <a:prstGeom prst="rect">
            <a:avLst/>
          </a:prstGeom>
          <a:noFill/>
          <a:ln/>
        </p:spPr>
        <p:txBody>
          <a:bodyPr wrap="square" lIns="0" tIns="0" rIns="0" bIns="0" rtlCol="0" anchor="ctr"/>
          <a:lstStyle/>
          <a:p>
            <a:pPr algn="l" indent="0" marL="0">
              <a:buNone/>
            </a:pPr>
            <a:r>
              <a:rPr lang="en-US" sz="2800" dirty="0">
                <a:solidFill>
                  <a:schemeClr val="tx2"/>
                </a:solidFill>
              </a:rPr>
              <a:t>Feb Roadmap vs. JAS</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6949440" cy="914400"/>
        </p:xfrm>
        <a:graphic>
          <a:graphicData uri="http://schemas.openxmlformats.org/drawingml/2006/table">
            <a:tbl>
              <a:tblPr/>
              <a:tblGrid>
                <a:gridCol w="1691640"/>
                <a:gridCol w="1691640"/>
                <a:gridCol w="2743200"/>
                <a:gridCol w="822960"/>
              </a:tblGrid>
              <a:tr h="324612">
                <a:tc>
                  <a:txBody>
                    <a:bodyPr/>
                    <a:lstStyle/>
                    <a:p>
                      <a:pPr indent="0" marL="0">
                        <a:buNone/>
                      </a:pPr>
                      <a:r>
                        <a:rPr lang="en-US" sz="1100" b="1" dirty="0">
                          <a:solidFill>
                            <a:schemeClr val="tx2"/>
                          </a:solidFill>
                        </a:rPr>
                        <a:t>Roadmap line (26 Feb)</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What we said</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JAS reality</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Status</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4612">
                <a:tc>
                  <a:txBody>
                    <a:bodyPr/>
                    <a:lstStyle/>
                    <a:p>
                      <a:pPr indent="0" marL="0">
                        <a:buNone/>
                      </a:pPr>
                      <a:r>
                        <a:rPr lang="en-US" sz="1000" b="1" dirty="0">
                          <a:solidFill>
                            <a:schemeClr val="tx1"/>
                          </a:solidFill>
                        </a:rPr>
                        <a:t>Creative volume</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200–250 / month</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~370 / month (1,109 total)</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tx2"/>
                          </a:solidFill>
                        </a:rPr>
                        <a:t>Beat</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4612">
                <a:tc>
                  <a:txBody>
                    <a:bodyPr/>
                    <a:lstStyle/>
                    <a:p>
                      <a:pPr indent="0" marL="0">
                        <a:buNone/>
                      </a:pPr>
                      <a:r>
                        <a:rPr lang="en-US" sz="1000" b="1" dirty="0">
                          <a:solidFill>
                            <a:schemeClr val="tx1"/>
                          </a:solidFill>
                        </a:rPr>
                        <a:t>Individual projects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4–5 / month</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~2.7 / month (8 in JAS)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accent3"/>
                          </a:solidFill>
                        </a:rPr>
                        <a:t>Below</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4612">
                <a:tc>
                  <a:txBody>
                    <a:bodyPr/>
                    <a:lstStyle/>
                    <a:p>
                      <a:pPr indent="0" marL="0">
                        <a:buNone/>
                      </a:pPr>
                      <a:r>
                        <a:rPr lang="en-US" sz="1000" b="1" dirty="0">
                          <a:solidFill>
                            <a:schemeClr val="tx1"/>
                          </a:solidFill>
                        </a:rPr>
                        <a:t>AI TVC / YouTube ads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R&amp;D, then pitch</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3 TVC ads for TVS Green</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tx2"/>
                          </a:solidFill>
                        </a:rPr>
                        <a:t>Delivered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4612">
                <a:tc>
                  <a:txBody>
                    <a:bodyPr/>
                    <a:lstStyle/>
                    <a:p>
                      <a:pPr indent="0" marL="0">
                        <a:buNone/>
                      </a:pPr>
                      <a:r>
                        <a:rPr lang="en-US" sz="1000" b="1" dirty="0">
                          <a:solidFill>
                            <a:schemeClr val="tx1"/>
                          </a:solidFill>
                        </a:rPr>
                        <a:t>Upsell: Star Health, TMB</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Quarterly ads / YouTube</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 pitched? converted?]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4612">
                <a:tc>
                  <a:txBody>
                    <a:bodyPr/>
                    <a:lstStyle/>
                    <a:p>
                      <a:pPr indent="0" marL="0">
                        <a:buNone/>
                      </a:pPr>
                      <a:r>
                        <a:rPr lang="en-US" sz="1000" b="1" dirty="0">
                          <a:solidFill>
                            <a:schemeClr val="tx1"/>
                          </a:solidFill>
                        </a:rPr>
                        <a:t>New retainers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+2 Type 1, +2 Type 2</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VGN Homes added · [confirm KIMS]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accent3"/>
                          </a:solidFill>
                        </a:rPr>
                        <a:t>Partial</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4612">
                <a:tc>
                  <a:txBody>
                    <a:bodyPr/>
                    <a:lstStyle/>
                    <a:p>
                      <a:pPr indent="0" marL="0">
                        <a:buNone/>
                      </a:pPr>
                      <a:r>
                        <a:rPr lang="en-US" sz="1000" b="1" dirty="0">
                          <a:solidFill>
                            <a:schemeClr val="tx1"/>
                          </a:solidFill>
                        </a:rPr>
                        <a:t>New service lines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AI photo, annual reports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 any paid jobs?]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4612">
                <a:tc>
                  <a:txBody>
                    <a:bodyPr/>
                    <a:lstStyle/>
                    <a:p>
                      <a:pPr indent="0" marL="0">
                        <a:buNone/>
                      </a:pPr>
                      <a:r>
                        <a:rPr lang="en-US" sz="1000" b="1" dirty="0">
                          <a:solidFill>
                            <a:schemeClr val="tx1"/>
                          </a:solidFill>
                        </a:rPr>
                        <a:t>Resources requested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dirty="0">
                          <a:solidFill>
                            <a:schemeClr val="tx1"/>
                          </a:solidFill>
                        </a:rPr>
                        <a:t>2 designers, 1 video, AI tools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 approved / pending]</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94360" y="868680"/>
            <a:ext cx="6949440" cy="502920"/>
          </a:xfrm>
          <a:prstGeom prst="rect">
            <a:avLst/>
          </a:prstGeom>
          <a:noFill/>
          <a:ln/>
        </p:spPr>
        <p:txBody>
          <a:bodyPr wrap="square" lIns="0" tIns="0" rIns="0" bIns="0" rtlCol="0" anchor="ctr"/>
          <a:lstStyle/>
          <a:p>
            <a:pPr algn="l" indent="0" marL="0">
              <a:buNone/>
            </a:pPr>
            <a:r>
              <a:rPr lang="en-US" sz="2800" dirty="0">
                <a:solidFill>
                  <a:schemeClr val="tx2"/>
                </a:solidFill>
              </a:rPr>
              <a:t>TVS Ads Spotlight</a:t>
            </a:r>
            <a:endParaRPr lang="en-US" sz="2800" dirty="0"/>
          </a:p>
        </p:txBody>
      </p:sp>
      <p:sp>
        <p:nvSpPr>
          <p:cNvPr id="3" name="Text 1"/>
          <p:cNvSpPr txBox="1"/>
          <p:nvPr/>
        </p:nvSpPr>
        <p:spPr>
          <a:xfrm>
            <a:off x="594360" y="1463040"/>
            <a:ext cx="3749040" cy="26517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Committed: </a:t>
            </a:r>
            <a:pPr indent="0" marL="0">
              <a:spcAft>
                <a:spcPts val="600"/>
              </a:spcAft>
              <a:buNone/>
            </a:pPr>
            <a:r>
              <a:rPr lang="en-US" sz="1200" dirty="0">
                <a:solidFill>
                  <a:schemeClr val="tx1"/>
                </a:solidFill>
              </a:rPr>
              <a:t>AMJ 2026</a:t>
            </a:r>
            <a:endParaRPr lang="en-US" sz="1200" dirty="0"/>
          </a:p>
          <a:p>
            <a:pPr indent="0" marL="0">
              <a:spcAft>
                <a:spcPts val="600"/>
              </a:spcAft>
              <a:buNone/>
            </a:pPr>
            <a:r>
              <a:rPr lang="en-US" sz="1200" b="1" dirty="0">
                <a:solidFill>
                  <a:schemeClr val="tx1"/>
                </a:solidFill>
              </a:rPr>
              <a:t>Executed: </a:t>
            </a:r>
            <a:pPr indent="0" marL="0">
              <a:spcAft>
                <a:spcPts val="600"/>
              </a:spcAft>
              <a:buNone/>
            </a:pPr>
            <a:r>
              <a:rPr lang="en-US" sz="1200" dirty="0">
                <a:solidFill>
                  <a:schemeClr val="tx1"/>
                </a:solidFill>
              </a:rPr>
              <a:t>JAS 2026</a:t>
            </a:r>
            <a:endParaRPr lang="en-US" sz="1200" dirty="0"/>
          </a:p>
          <a:p>
            <a:pPr indent="0" marL="0">
              <a:spcAft>
                <a:spcPts val="600"/>
              </a:spcAft>
              <a:buNone/>
            </a:pPr>
            <a:r>
              <a:rPr lang="en-US" sz="1200" b="1" dirty="0">
                <a:solidFill>
                  <a:schemeClr val="tx1"/>
                </a:solidFill>
              </a:rPr>
              <a:t>Delivered: </a:t>
            </a:r>
            <a:pPr indent="0" marL="0">
              <a:spcAft>
                <a:spcPts val="600"/>
              </a:spcAft>
              <a:buNone/>
            </a:pPr>
            <a:r>
              <a:rPr lang="en-US" sz="1200" dirty="0">
                <a:solidFill>
                  <a:schemeClr val="tx1"/>
                </a:solidFill>
              </a:rPr>
              <a:t>3 TVC commercial ads for TVS Green</a:t>
            </a:r>
            <a:endParaRPr lang="en-US" sz="1200" dirty="0"/>
          </a:p>
          <a:p>
            <a:pPr indent="0" marL="0">
              <a:spcAft>
                <a:spcPts val="600"/>
              </a:spcAft>
              <a:buNone/>
            </a:pPr>
            <a:r>
              <a:rPr lang="en-US" sz="1200" b="1" dirty="0">
                <a:solidFill>
                  <a:schemeClr val="tx1"/>
                </a:solidFill>
              </a:rPr>
              <a:t>Team: </a:t>
            </a:r>
            <a:pPr indent="0" marL="0">
              <a:spcAft>
                <a:spcPts val="600"/>
              </a:spcAft>
              <a:buNone/>
            </a:pPr>
            <a:r>
              <a:rPr lang="en-US" sz="1200" dirty="0">
                <a:solidFill>
                  <a:schemeClr val="tx1"/>
                </a:solidFill>
              </a:rPr>
              <a:t>Gowtham (5 master concepts), Naresh (7 creatives)</a:t>
            </a:r>
            <a:endParaRPr lang="en-US" sz="1200" dirty="0"/>
          </a:p>
          <a:p>
            <a:pPr indent="0" marL="0">
              <a:spcAft>
                <a:spcPts val="600"/>
              </a:spcAft>
              <a:buNone/>
            </a:pPr>
            <a:r>
              <a:rPr lang="en-US" sz="600" dirty="0">
                <a:solidFill>
                  <a:schemeClr val="tx1"/>
                </a:solidFill>
              </a:rPr>
              <a:t> </a:t>
            </a:r>
            <a:endParaRPr lang="en-US" sz="1200" dirty="0"/>
          </a:p>
          <a:p>
            <a:pPr indent="0" marL="0">
              <a:spcAft>
                <a:spcPts val="600"/>
              </a:spcAft>
              <a:buNone/>
            </a:pPr>
            <a:r>
              <a:rPr lang="en-US" sz="1200" b="1" dirty="0">
                <a:solidFill>
                  <a:schemeClr val="tx2"/>
                </a:solidFill>
              </a:rPr>
              <a:t>Why it matters</a:t>
            </a:r>
            <a:endParaRPr lang="en-US" sz="1200" dirty="0"/>
          </a:p>
          <a:p>
            <a:pPr indent="0" marL="0">
              <a:spcAft>
                <a:spcPts val="600"/>
              </a:spcAft>
              <a:buNone/>
            </a:pPr>
            <a:r>
              <a:rPr lang="en-US" sz="1200" dirty="0">
                <a:solidFill>
                  <a:schemeClr val="tx1"/>
                </a:solidFill>
              </a:rPr>
              <a:t>First delivery against the Feb roadmap's TVC / YouTube ads line, and the base for OND's real-estate AI videos.</a:t>
            </a:r>
            <a:endParaRPr lang="en-US" sz="1200" dirty="0"/>
          </a:p>
        </p:txBody>
      </p:sp>
      <p:sp>
        <p:nvSpPr>
          <p:cNvPr id="4" name="Data placeholder"/>
          <p:cNvSpPr/>
          <p:nvPr/>
        </p:nvSpPr>
        <p:spPr>
          <a:xfrm>
            <a:off x="4617720" y="1463040"/>
            <a:ext cx="2926080" cy="2560320"/>
          </a:xfrm>
          <a:prstGeom prst="rect">
            <a:avLst/>
          </a:prstGeom>
          <a:solidFill>
            <a:schemeClr val="bg1">
              <a:alpha val="70000"/>
            </a:schemeClr>
          </a:solidFill>
          <a:ln w="15875">
            <a:solidFill>
              <a:schemeClr val="accent2"/>
            </a:solidFill>
            <a:prstDash val="dash"/>
          </a:ln>
        </p:spPr>
      </p:sp>
      <p:sp>
        <p:nvSpPr>
          <p:cNvPr id="5" name="Text 3"/>
          <p:cNvSpPr txBox="1"/>
          <p:nvPr/>
        </p:nvSpPr>
        <p:spPr>
          <a:xfrm>
            <a:off x="4727448" y="1463040"/>
            <a:ext cx="2706624" cy="2560320"/>
          </a:xfrm>
          <a:prstGeom prst="rect">
            <a:avLst/>
          </a:prstGeom>
          <a:noFill/>
          <a:ln/>
        </p:spPr>
        <p:txBody>
          <a:bodyPr wrap="square" lIns="0" tIns="0" rIns="0" bIns="0" rtlCol="0" anchor="ctr"/>
          <a:lstStyle/>
          <a:p>
            <a:pPr indent="0" marL="0">
              <a:buNone/>
            </a:pPr>
            <a:r>
              <a:rPr lang="en-US" sz="1200" b="1" dirty="0">
                <a:solidFill>
                  <a:schemeClr val="accent2"/>
                </a:solidFill>
              </a:rPr>
              <a:t>TO ADD: </a:t>
            </a:r>
            <a:pPr indent="0" marL="0">
              <a:buNone/>
            </a:pPr>
            <a:r>
              <a:rPr lang="en-US" sz="1200" i="1" dirty="0">
                <a:solidFill>
                  <a:schemeClr val="accent2"/>
                </a:solidFill>
              </a:rPr>
              <a:t>2–3 stills or a short clip from the TVS ads, plus one line of client feedback.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94360" y="868680"/>
            <a:ext cx="6949440" cy="502920"/>
          </a:xfrm>
          <a:prstGeom prst="rect">
            <a:avLst/>
          </a:prstGeom>
          <a:noFill/>
          <a:ln/>
        </p:spPr>
        <p:txBody>
          <a:bodyPr wrap="square" lIns="0" tIns="0" rIns="0" bIns="0" rtlCol="0" anchor="ctr"/>
          <a:lstStyle/>
          <a:p>
            <a:pPr algn="l" indent="0" marL="0">
              <a:buNone/>
            </a:pPr>
            <a:r>
              <a:rPr lang="en-US" sz="2800" dirty="0">
                <a:solidFill>
                  <a:schemeClr val="tx2"/>
                </a:solidFill>
              </a:rPr>
              <a:t>KPI Scorecard</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6949440" cy="914400"/>
        </p:xfrm>
        <a:graphic>
          <a:graphicData uri="http://schemas.openxmlformats.org/drawingml/2006/table">
            <a:tbl>
              <a:tblPr/>
              <a:tblGrid>
                <a:gridCol w="2148840"/>
                <a:gridCol w="685800"/>
                <a:gridCol w="1783080"/>
                <a:gridCol w="1325880"/>
                <a:gridCol w="1005840"/>
              </a:tblGrid>
              <a:tr h="329184">
                <a:tc>
                  <a:txBody>
                    <a:bodyPr/>
                    <a:lstStyle/>
                    <a:p>
                      <a:pPr indent="0" marL="0">
                        <a:buNone/>
                      </a:pPr>
                      <a:r>
                        <a:rPr lang="en-US" sz="1100" b="1" dirty="0">
                          <a:solidFill>
                            <a:schemeClr val="tx2"/>
                          </a:solidFill>
                        </a:rPr>
                        <a:t>KPI</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Weight</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Projection</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Actually done</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Score</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9184">
                <a:tc>
                  <a:txBody>
                    <a:bodyPr/>
                    <a:lstStyle/>
                    <a:p>
                      <a:pPr indent="0" marL="0">
                        <a:buNone/>
                      </a:pPr>
                      <a:r>
                        <a:rPr lang="en-US" sz="1100" b="1" dirty="0">
                          <a:solidFill>
                            <a:schemeClr val="tx1"/>
                          </a:solidFill>
                        </a:rPr>
                        <a:t>On-Time Project Delivery</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25%</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8 projects due</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6 on time</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accent3"/>
                          </a:solidFill>
                        </a:rPr>
                        <a:t>75%</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9184">
                <a:tc>
                  <a:txBody>
                    <a:bodyPr/>
                    <a:lstStyle/>
                    <a:p>
                      <a:pPr indent="0" marL="0">
                        <a:buNone/>
                      </a:pPr>
                      <a:r>
                        <a:rPr lang="en-US" sz="1100" b="1" dirty="0">
                          <a:solidFill>
                            <a:schemeClr val="tx1"/>
                          </a:solidFill>
                        </a:rPr>
                        <a:t>Design &amp; Creatives outcomes</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30%</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561 (retainer scope)</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841 units</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tx2"/>
                          </a:solidFill>
                        </a:rPr>
                        <a:t>150%*</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9184">
                <a:tc>
                  <a:txBody>
                    <a:bodyPr/>
                    <a:lstStyle/>
                    <a:p>
                      <a:pPr indent="0" marL="0">
                        <a:buNone/>
                      </a:pPr>
                      <a:r>
                        <a:rPr lang="en-US" sz="1100" b="1" dirty="0">
                          <a:solidFill>
                            <a:schemeClr val="tx1"/>
                          </a:solidFill>
                        </a:rPr>
                        <a:t>Attendance / Production days</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5%</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bl>
          </a:graphicData>
        </a:graphic>
      </p:graphicFrame>
      <p:sp>
        <p:nvSpPr>
          <p:cNvPr id="4" name="Text 1"/>
          <p:cNvSpPr txBox="1"/>
          <p:nvPr/>
        </p:nvSpPr>
        <p:spPr>
          <a:xfrm>
            <a:off x="594360" y="2926080"/>
            <a:ext cx="2743200" cy="274320"/>
          </a:xfrm>
          <a:prstGeom prst="rect">
            <a:avLst/>
          </a:prstGeom>
          <a:noFill/>
          <a:ln/>
        </p:spPr>
        <p:txBody>
          <a:bodyPr wrap="square" lIns="0" tIns="0" rIns="0" bIns="0" rtlCol="0" anchor="ctr"/>
          <a:lstStyle/>
          <a:p>
            <a:pPr indent="0" marL="0">
              <a:buNone/>
            </a:pPr>
            <a:r>
              <a:rPr lang="en-US" sz="1300" b="1" dirty="0">
                <a:solidFill>
                  <a:schemeClr val="tx1"/>
                </a:solidFill>
              </a:rPr>
              <a:t>Month-wise</a:t>
            </a:r>
            <a:endParaRPr lang="en-US" sz="1300" dirty="0"/>
          </a:p>
        </p:txBody>
      </p:sp>
      <p:sp>
        <p:nvSpPr>
          <p:cNvPr id="5" name="Text 2"/>
          <p:cNvSpPr txBox="1"/>
          <p:nvPr/>
        </p:nvSpPr>
        <p:spPr>
          <a:xfrm>
            <a:off x="594360" y="3200400"/>
            <a:ext cx="6949440" cy="274320"/>
          </a:xfrm>
          <a:prstGeom prst="rect">
            <a:avLst/>
          </a:prstGeom>
          <a:noFill/>
          <a:ln/>
        </p:spPr>
        <p:txBody>
          <a:bodyPr wrap="square" lIns="0" tIns="0" rIns="0" bIns="0" rtlCol="0" anchor="ctr"/>
          <a:lstStyle/>
          <a:p>
            <a:pPr indent="0" marL="0">
              <a:buNone/>
            </a:pPr>
            <a:r>
              <a:rPr lang="en-US" sz="1100" b="1" dirty="0">
                <a:solidFill>
                  <a:schemeClr val="tx1"/>
                </a:solidFill>
              </a:rPr>
              <a:t>Projects started:  </a:t>
            </a:r>
            <a:pPr indent="0" marL="0">
              <a:buNone/>
            </a:pPr>
            <a:r>
              <a:rPr lang="en-US" sz="1100" dirty="0">
                <a:solidFill>
                  <a:schemeClr val="tx1"/>
                </a:solidFill>
              </a:rPr>
              <a:t>Jul 4 (all done)  ·  Aug 3 (1 done, 2 slipped)  ·  Sep 1 (done)</a:t>
            </a:r>
            <a:endParaRPr lang="en-US" sz="1100" dirty="0"/>
          </a:p>
        </p:txBody>
      </p:sp>
      <p:sp>
        <p:nvSpPr>
          <p:cNvPr id="6" name="Data placeholder"/>
          <p:cNvSpPr/>
          <p:nvPr/>
        </p:nvSpPr>
        <p:spPr>
          <a:xfrm>
            <a:off x="594360" y="3547872"/>
            <a:ext cx="6949440" cy="384048"/>
          </a:xfrm>
          <a:prstGeom prst="rect">
            <a:avLst/>
          </a:prstGeom>
          <a:solidFill>
            <a:schemeClr val="bg1">
              <a:alpha val="70000"/>
            </a:schemeClr>
          </a:solidFill>
          <a:ln w="15875">
            <a:solidFill>
              <a:schemeClr val="accent2"/>
            </a:solidFill>
            <a:prstDash val="dash"/>
          </a:ln>
        </p:spPr>
      </p:sp>
      <p:sp>
        <p:nvSpPr>
          <p:cNvPr id="7" name="Text 4"/>
          <p:cNvSpPr txBox="1"/>
          <p:nvPr/>
        </p:nvSpPr>
        <p:spPr>
          <a:xfrm>
            <a:off x="704088" y="3547872"/>
            <a:ext cx="6729984" cy="384048"/>
          </a:xfrm>
          <a:prstGeom prst="rect">
            <a:avLst/>
          </a:prstGeom>
          <a:noFill/>
          <a:ln/>
        </p:spPr>
        <p:txBody>
          <a:bodyPr wrap="square" lIns="0" tIns="0" rIns="0" bIns="0" rtlCol="0" anchor="ctr"/>
          <a:lstStyle/>
          <a:p>
            <a:pPr indent="0" marL="0">
              <a:buNone/>
            </a:pPr>
            <a:r>
              <a:rPr lang="en-US" sz="1100" b="1" dirty="0">
                <a:solidFill>
                  <a:schemeClr val="accent2"/>
                </a:solidFill>
              </a:rPr>
              <a:t>TO ADD: </a:t>
            </a:r>
            <a:pPr indent="0" marL="0">
              <a:buNone/>
            </a:pPr>
            <a:r>
              <a:rPr lang="en-US" sz="1100" i="1" dirty="0">
                <a:solidFill>
                  <a:schemeClr val="accent2"/>
                </a:solidFill>
              </a:rPr>
              <a:t>Creatives target vs. done for Jul / Aug / Sep (split the pivot by month).</a:t>
            </a:r>
            <a:endParaRPr lang="en-US" sz="1100" dirty="0"/>
          </a:p>
        </p:txBody>
      </p:sp>
      <p:sp>
        <p:nvSpPr>
          <p:cNvPr id="8" name="Text 5"/>
          <p:cNvSpPr txBox="1"/>
          <p:nvPr/>
        </p:nvSpPr>
        <p:spPr>
          <a:xfrm>
            <a:off x="594360" y="4023360"/>
            <a:ext cx="6949440" cy="274320"/>
          </a:xfrm>
          <a:prstGeom prst="rect">
            <a:avLst/>
          </a:prstGeom>
          <a:noFill/>
          <a:ln/>
        </p:spPr>
        <p:txBody>
          <a:bodyPr wrap="square" lIns="0" tIns="0" rIns="0" bIns="0" rtlCol="0" anchor="ctr"/>
          <a:lstStyle/>
          <a:p>
            <a:pPr indent="0" marL="0">
              <a:buNone/>
            </a:pPr>
            <a:r>
              <a:rPr lang="en-US" sz="900" i="1" dirty="0">
                <a:solidFill>
                  <a:schemeClr val="accent4"/>
                </a:solidFill>
              </a:rPr>
              <a:t>* Scope = TMB, VGN, Star Health, Maxivision, Athmalaya × 3 months, adaptations included. Capped at 100% when weighted.</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94360" y="868680"/>
            <a:ext cx="6949440" cy="502920"/>
          </a:xfrm>
          <a:prstGeom prst="rect">
            <a:avLst/>
          </a:prstGeom>
          <a:noFill/>
          <a:ln/>
        </p:spPr>
        <p:txBody>
          <a:bodyPr wrap="square" lIns="0" tIns="0" rIns="0" bIns="0" rtlCol="0" anchor="ctr"/>
          <a:lstStyle/>
          <a:p>
            <a:pPr algn="l" indent="0" marL="0">
              <a:buNone/>
            </a:pPr>
            <a:r>
              <a:rPr lang="en-US" sz="2800" dirty="0">
                <a:solidFill>
                  <a:schemeClr val="tx2"/>
                </a:solidFill>
              </a:rPr>
              <a:t>Retainer Delivery vs. Scope</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6949440" cy="914400"/>
        </p:xfrm>
        <a:graphic>
          <a:graphicData uri="http://schemas.openxmlformats.org/drawingml/2006/table">
            <a:tbl>
              <a:tblPr/>
              <a:tblGrid>
                <a:gridCol w="1645920"/>
                <a:gridCol w="1371600"/>
                <a:gridCol w="1005840"/>
                <a:gridCol w="1280160"/>
                <a:gridCol w="1645920"/>
              </a:tblGrid>
              <a:tr h="310896">
                <a:tc>
                  <a:txBody>
                    <a:bodyPr/>
                    <a:lstStyle/>
                    <a:p>
                      <a:pPr indent="0" marL="0">
                        <a:buNone/>
                      </a:pPr>
                      <a:r>
                        <a:rPr lang="en-US" sz="1100" b="1" dirty="0">
                          <a:solidFill>
                            <a:schemeClr val="tx2"/>
                          </a:solidFill>
                        </a:rPr>
                        <a:t>Retainer</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JAS scope</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Delivered</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 of scope</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 excl. adaptations</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10896">
                <a:tc>
                  <a:txBody>
                    <a:bodyPr/>
                    <a:lstStyle/>
                    <a:p>
                      <a:pPr indent="0" marL="0">
                        <a:buNone/>
                      </a:pPr>
                      <a:r>
                        <a:rPr lang="en-US" sz="1100" b="1" dirty="0">
                          <a:solidFill>
                            <a:schemeClr val="tx1"/>
                          </a:solidFill>
                        </a:rPr>
                        <a:t>TMB Bank</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210</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491</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tx2"/>
                          </a:solidFill>
                        </a:rPr>
                        <a:t>234%</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accent3"/>
                          </a:solidFill>
                        </a:rPr>
                        <a:t>81%</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10896">
                <a:tc>
                  <a:txBody>
                    <a:bodyPr/>
                    <a:lstStyle/>
                    <a:p>
                      <a:pPr indent="0" marL="0">
                        <a:buNone/>
                      </a:pPr>
                      <a:r>
                        <a:rPr lang="en-US" sz="1100" b="1" dirty="0">
                          <a:solidFill>
                            <a:schemeClr val="tx1"/>
                          </a:solidFill>
                        </a:rPr>
                        <a:t>VGN Homes</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105</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131</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tx2"/>
                          </a:solidFill>
                        </a:rPr>
                        <a:t>125%</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tx2"/>
                          </a:solidFill>
                        </a:rPr>
                        <a:t>107%</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10896">
                <a:tc>
                  <a:txBody>
                    <a:bodyPr/>
                    <a:lstStyle/>
                    <a:p>
                      <a:pPr indent="0" marL="0">
                        <a:buNone/>
                      </a:pPr>
                      <a:r>
                        <a:rPr lang="en-US" sz="1100" b="1" dirty="0">
                          <a:solidFill>
                            <a:schemeClr val="tx1"/>
                          </a:solidFill>
                        </a:rPr>
                        <a:t>Star Health</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210 units</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175</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accent3"/>
                          </a:solidFill>
                        </a:rPr>
                        <a:t>83%</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accent2"/>
                          </a:solidFill>
                        </a:rPr>
                        <a:t>30%</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10896">
                <a:tc>
                  <a:txBody>
                    <a:bodyPr/>
                    <a:lstStyle/>
                    <a:p>
                      <a:pPr indent="0" marL="0">
                        <a:buNone/>
                      </a:pPr>
                      <a:r>
                        <a:rPr lang="en-US" sz="1100" b="1" dirty="0">
                          <a:solidFill>
                            <a:schemeClr val="tx1"/>
                          </a:solidFill>
                        </a:rPr>
                        <a:t>Maxivision</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18–30</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41</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tx2"/>
                          </a:solidFill>
                        </a:rPr>
                        <a:t>137%</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b="1" dirty="0">
                          <a:solidFill>
                            <a:schemeClr val="tx2"/>
                          </a:solidFill>
                        </a:rPr>
                        <a:t>133%</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10896">
                <a:tc>
                  <a:txBody>
                    <a:bodyPr/>
                    <a:lstStyle/>
                    <a:p>
                      <a:pPr indent="0" marL="0">
                        <a:buNone/>
                      </a:pPr>
                      <a:r>
                        <a:rPr lang="en-US" sz="1100" b="1" dirty="0">
                          <a:solidFill>
                            <a:schemeClr val="tx1"/>
                          </a:solidFill>
                        </a:rPr>
                        <a:t>Athmalaya</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6 posts</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3</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accent2"/>
                          </a:solidFill>
                        </a:rPr>
                        <a:t>50%</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accent2"/>
                          </a:solidFill>
                        </a:rPr>
                        <a:t>50%</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10896">
                <a:tc>
                  <a:txBody>
                    <a:bodyPr/>
                    <a:lstStyle/>
                    <a:p>
                      <a:pPr indent="0" marL="0">
                        <a:buNone/>
                      </a:pPr>
                      <a:r>
                        <a:rPr lang="en-US" sz="1100" b="1" dirty="0">
                          <a:solidFill>
                            <a:schemeClr val="tx1"/>
                          </a:solidFill>
                        </a:rPr>
                        <a:t>TVS Credit</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~1 newsletter</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dirty="0">
                          <a:solidFill>
                            <a:schemeClr val="tx1"/>
                          </a:solidFill>
                        </a:rPr>
                        <a:t>58</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[confirm unit]</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[confirm unit]</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bl>
          </a:graphicData>
        </a:graphic>
      </p:graphicFrame>
      <p:sp>
        <p:nvSpPr>
          <p:cNvPr id="4" name="Text 1"/>
          <p:cNvSpPr txBox="1"/>
          <p:nvPr/>
        </p:nvSpPr>
        <p:spPr>
          <a:xfrm>
            <a:off x="594360" y="3730752"/>
            <a:ext cx="6949440" cy="457200"/>
          </a:xfrm>
          <a:prstGeom prst="rect">
            <a:avLst/>
          </a:prstGeom>
          <a:noFill/>
          <a:ln/>
        </p:spPr>
        <p:txBody>
          <a:bodyPr wrap="square" lIns="0" tIns="0" rIns="0" bIns="0" rtlCol="0" anchor="t"/>
          <a:lstStyle/>
          <a:p>
            <a:pPr indent="0" marL="0">
              <a:buNone/>
            </a:pPr>
            <a:r>
              <a:rPr lang="en-US" sz="1000" b="1" dirty="0">
                <a:solidFill>
                  <a:schemeClr val="accent2"/>
                </a:solidFill>
              </a:rPr>
              <a:t>Decide before presenting: </a:t>
            </a:r>
            <a:pPr indent="0" marL="0">
              <a:buNone/>
            </a:pPr>
            <a:r>
              <a:rPr lang="en-US" sz="1000" dirty="0">
                <a:solidFill>
                  <a:schemeClr val="tx1"/>
                </a:solidFill>
              </a:rPr>
              <a:t>do adaptations count toward scope? If yes, TMB is at 2.3× scope (unbilled over-delivery?). If no, TMB is at 81% and Star Health at 30%. Keep one % column.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94360" y="868680"/>
            <a:ext cx="6949440" cy="502920"/>
          </a:xfrm>
          <a:prstGeom prst="rect">
            <a:avLst/>
          </a:prstGeom>
          <a:noFill/>
          <a:ln/>
        </p:spPr>
        <p:txBody>
          <a:bodyPr wrap="square" lIns="0" tIns="0" rIns="0" bIns="0" rtlCol="0" anchor="ctr"/>
          <a:lstStyle/>
          <a:p>
            <a:pPr algn="l" indent="0" marL="0">
              <a:buNone/>
            </a:pPr>
            <a:r>
              <a:rPr lang="en-US" sz="2800" dirty="0">
                <a:solidFill>
                  <a:schemeClr val="tx2"/>
                </a:solidFill>
              </a:rPr>
              <a:t>Team Output &amp; Projects</a:t>
            </a:r>
            <a:endParaRPr lang="en-US" sz="2800" dirty="0"/>
          </a:p>
        </p:txBody>
      </p:sp>
      <p:graphicFrame>
        <p:nvGraphicFramePr>
          <p:cNvPr id="3" name="Chart 0" descr=""/>
          <p:cNvGraphicFramePr/>
          <p:nvPr/>
        </p:nvGraphicFramePr>
        <p:xfrm>
          <a:off x="502920" y="1325880"/>
          <a:ext cx="4023360" cy="2834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663440" y="1463040"/>
            <a:ext cx="2880360" cy="1783080"/>
          </a:xfrm>
          <a:prstGeom prst="rect">
            <a:avLst/>
          </a:prstGeom>
          <a:noFill/>
          <a:ln/>
        </p:spPr>
        <p:txBody>
          <a:bodyPr wrap="square" lIns="0" tIns="0" rIns="0" bIns="0" rtlCol="0" anchor="t"/>
          <a:lstStyle/>
          <a:p>
            <a:pPr indent="0" marL="0">
              <a:spcAft>
                <a:spcPts val="400"/>
              </a:spcAft>
              <a:buNone/>
            </a:pPr>
            <a:r>
              <a:rPr lang="en-US" sz="1000" b="1" dirty="0">
                <a:solidFill>
                  <a:schemeClr val="tx2"/>
                </a:solidFill>
              </a:rPr>
              <a:t>Team</a:t>
            </a:r>
            <a:endParaRPr lang="en-US" sz="1000" dirty="0"/>
          </a:p>
          <a:p>
            <a:pPr marL="342900" indent="-342900">
              <a:spcAft>
                <a:spcPts val="400"/>
              </a:spcAft>
              <a:buSzPct val="100000"/>
              <a:buChar char="•"/>
            </a:pPr>
            <a:r>
              <a:rPr lang="en-US" sz="1000" dirty="0">
                <a:solidFill>
                  <a:schemeClr val="tx1"/>
                </a:solidFill>
              </a:rPr>
              <a:t>67% of master creatives came from Gowtham</a:t>
            </a:r>
            <a:endParaRPr lang="en-US" sz="1000" dirty="0"/>
          </a:p>
          <a:p>
            <a:pPr marL="342900" indent="-342900">
              <a:spcAft>
                <a:spcPts val="400"/>
              </a:spcAft>
              <a:buSzPct val="100000"/>
              <a:buChar char="•"/>
            </a:pPr>
            <a:r>
              <a:rPr lang="en-US" sz="1000" dirty="0">
                <a:solidFill>
                  <a:schemeClr val="tx1"/>
                </a:solidFill>
              </a:rPr>
              <a:t>76% of Keerthana's output is adaptations</a:t>
            </a:r>
            <a:endParaRPr lang="en-US" sz="1000" dirty="0"/>
          </a:p>
          <a:p>
            <a:pPr indent="0" marL="0">
              <a:spcAft>
                <a:spcPts val="400"/>
              </a:spcAft>
              <a:buNone/>
            </a:pPr>
            <a:r>
              <a:rPr lang="en-US" sz="1000" b="1" dirty="0">
                <a:solidFill>
                  <a:schemeClr val="tx2"/>
                </a:solidFill>
              </a:rPr>
              <a:t>Projects</a:t>
            </a:r>
            <a:endParaRPr lang="en-US" sz="1000" dirty="0"/>
          </a:p>
          <a:p>
            <a:pPr marL="342900" indent="-342900">
              <a:spcAft>
                <a:spcPts val="400"/>
              </a:spcAft>
              <a:buSzPct val="100000"/>
              <a:buChar char="•"/>
            </a:pPr>
            <a:r>
              <a:rPr lang="en-US" sz="1000" dirty="0">
                <a:solidFill>
                  <a:schemeClr val="tx1"/>
                </a:solidFill>
              </a:rPr>
              <a:t>6 of 8 closed; Checkpoint and Xylemx slipped</a:t>
            </a:r>
            <a:endParaRPr lang="en-US" sz="1000" dirty="0"/>
          </a:p>
          <a:p>
            <a:pPr marL="342900" indent="-342900">
              <a:spcAft>
                <a:spcPts val="400"/>
              </a:spcAft>
              <a:buSzPct val="100000"/>
              <a:buChar char="•"/>
            </a:pPr>
            <a:r>
              <a:rPr lang="en-US" sz="1000" dirty="0">
                <a:solidFill>
                  <a:schemeClr val="tx1"/>
                </a:solidFill>
              </a:rPr>
              <a:t>Pitches: Apollo and DBS used 9 master creatives</a:t>
            </a:r>
            <a:endParaRPr lang="en-US" sz="1000" dirty="0"/>
          </a:p>
        </p:txBody>
      </p:sp>
      <p:sp>
        <p:nvSpPr>
          <p:cNvPr id="5" name="Data placeholder"/>
          <p:cNvSpPr/>
          <p:nvPr/>
        </p:nvSpPr>
        <p:spPr>
          <a:xfrm>
            <a:off x="4663440" y="3337560"/>
            <a:ext cx="2880360" cy="731520"/>
          </a:xfrm>
          <a:prstGeom prst="rect">
            <a:avLst/>
          </a:prstGeom>
          <a:solidFill>
            <a:schemeClr val="bg1">
              <a:alpha val="70000"/>
            </a:schemeClr>
          </a:solidFill>
          <a:ln w="15875">
            <a:solidFill>
              <a:schemeClr val="accent2"/>
            </a:solidFill>
            <a:prstDash val="dash"/>
          </a:ln>
        </p:spPr>
      </p:sp>
      <p:sp>
        <p:nvSpPr>
          <p:cNvPr id="6" name="Text 3"/>
          <p:cNvSpPr txBox="1"/>
          <p:nvPr/>
        </p:nvSpPr>
        <p:spPr>
          <a:xfrm>
            <a:off x="4773168" y="3337560"/>
            <a:ext cx="2660904" cy="731520"/>
          </a:xfrm>
          <a:prstGeom prst="rect">
            <a:avLst/>
          </a:prstGeom>
          <a:noFill/>
          <a:ln/>
        </p:spPr>
        <p:txBody>
          <a:bodyPr wrap="square" lIns="0" tIns="0" rIns="0" bIns="0" rtlCol="0" anchor="ctr"/>
          <a:lstStyle/>
          <a:p>
            <a:pPr indent="0" marL="0">
              <a:buNone/>
            </a:pPr>
            <a:r>
              <a:rPr lang="en-US" sz="1000" b="1" dirty="0">
                <a:solidFill>
                  <a:schemeClr val="accent2"/>
                </a:solidFill>
              </a:rPr>
              <a:t>TO ADD: </a:t>
            </a:r>
            <a:pPr indent="0" marL="0">
              <a:buNone/>
            </a:pPr>
            <a:r>
              <a:rPr lang="en-US" sz="1000" i="1" dirty="0">
                <a:solidFill>
                  <a:schemeClr val="accent2"/>
                </a:solidFill>
              </a:rPr>
              <a:t>Why the 2 projects slipped, their new close dates, and the pitch outcomes.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94360" y="868680"/>
            <a:ext cx="6949440" cy="502920"/>
          </a:xfrm>
          <a:prstGeom prst="rect">
            <a:avLst/>
          </a:prstGeom>
          <a:noFill/>
          <a:ln/>
        </p:spPr>
        <p:txBody>
          <a:bodyPr wrap="square" lIns="0" tIns="0" rIns="0" bIns="0" rtlCol="0" anchor="ctr"/>
          <a:lstStyle/>
          <a:p>
            <a:pPr algn="l" indent="0" marL="0">
              <a:buNone/>
            </a:pPr>
            <a:r>
              <a:rPr lang="en-US" sz="2800" dirty="0">
                <a:solidFill>
                  <a:schemeClr val="tx2"/>
                </a:solidFill>
              </a:rPr>
              <a:t>OND Plan</a:t>
            </a:r>
            <a:endParaRPr lang="en-US" sz="2800" dirty="0"/>
          </a:p>
        </p:txBody>
      </p:sp>
      <p:sp>
        <p:nvSpPr>
          <p:cNvPr id="3" name="Text 1"/>
          <p:cNvSpPr txBox="1"/>
          <p:nvPr/>
        </p:nvSpPr>
        <p:spPr>
          <a:xfrm>
            <a:off x="594360" y="1463040"/>
            <a:ext cx="2651760" cy="1737360"/>
          </a:xfrm>
          <a:prstGeom prst="rect">
            <a:avLst/>
          </a:prstGeom>
          <a:noFill/>
          <a:ln/>
        </p:spPr>
        <p:txBody>
          <a:bodyPr wrap="square" lIns="0" tIns="0" rIns="0" bIns="0" rtlCol="0" anchor="t"/>
          <a:lstStyle/>
          <a:p>
            <a:pPr indent="0" marL="0">
              <a:spcAft>
                <a:spcPts val="500"/>
              </a:spcAft>
              <a:buNone/>
            </a:pPr>
            <a:r>
              <a:rPr lang="en-US" sz="1100" b="1" dirty="0">
                <a:solidFill>
                  <a:schemeClr val="tx2"/>
                </a:solidFill>
              </a:rPr>
              <a:t>Focus</a:t>
            </a:r>
            <a:endParaRPr lang="en-US" sz="1100" dirty="0"/>
          </a:p>
          <a:p>
            <a:pPr marL="342900" indent="-342900">
              <a:spcAft>
                <a:spcPts val="500"/>
              </a:spcAft>
              <a:buSzPct val="100000"/>
              <a:buChar char="•"/>
            </a:pPr>
            <a:r>
              <a:rPr lang="en-US" sz="1100" dirty="0">
                <a:solidFill>
                  <a:schemeClr val="tx1"/>
                </a:solidFill>
              </a:rPr>
              <a:t>Real-estate AI videos</a:t>
            </a:r>
            <a:endParaRPr lang="en-US" sz="1100" dirty="0"/>
          </a:p>
          <a:p>
            <a:pPr marL="342900" indent="-342900">
              <a:spcAft>
                <a:spcPts val="500"/>
              </a:spcAft>
              <a:buSzPct val="100000"/>
              <a:buChar char="•"/>
            </a:pPr>
            <a:r>
              <a:rPr lang="en-US" sz="1100" dirty="0">
                <a:solidFill>
                  <a:schemeClr val="tx1"/>
                </a:solidFill>
              </a:rPr>
              <a:t>AI-led creative deliverables</a:t>
            </a:r>
            <a:endParaRPr lang="en-US" sz="1100" dirty="0"/>
          </a:p>
          <a:p>
            <a:pPr marL="342900" indent="-342900">
              <a:spcAft>
                <a:spcPts val="500"/>
              </a:spcAft>
              <a:buSzPct val="100000"/>
              <a:buChar char="•"/>
            </a:pPr>
            <a:r>
              <a:rPr lang="en-US" sz="1100" dirty="0">
                <a:solidFill>
                  <a:schemeClr val="tx1"/>
                </a:solidFill>
              </a:rPr>
              <a:t>Close Checkpoint, Xylemx, TVS Green</a:t>
            </a:r>
            <a:endParaRPr lang="en-US" sz="1100" dirty="0"/>
          </a:p>
          <a:p>
            <a:pPr marL="342900" indent="-342900">
              <a:spcAft>
                <a:spcPts val="500"/>
              </a:spcAft>
              <a:buSzPct val="100000"/>
              <a:buChar char="•"/>
            </a:pPr>
            <a:r>
              <a:rPr lang="en-US" sz="1100" dirty="0">
                <a:solidFill>
                  <a:schemeClr val="tx1"/>
                </a:solidFill>
              </a:rPr>
              <a:t>Keep every retainer on scope</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337560" y="1463040"/>
          <a:ext cx="4206240" cy="914400"/>
        </p:xfrm>
        <a:graphic>
          <a:graphicData uri="http://schemas.openxmlformats.org/drawingml/2006/table">
            <a:tbl>
              <a:tblPr/>
              <a:tblGrid>
                <a:gridCol w="1737360"/>
                <a:gridCol w="914400"/>
                <a:gridCol w="777240"/>
                <a:gridCol w="777240"/>
              </a:tblGrid>
              <a:tr h="329184">
                <a:tc>
                  <a:txBody>
                    <a:bodyPr/>
                    <a:lstStyle/>
                    <a:p>
                      <a:pPr indent="0" marL="0">
                        <a:buNone/>
                      </a:pPr>
                      <a:r>
                        <a:rPr lang="en-US" sz="1100" b="1" dirty="0">
                          <a:solidFill>
                            <a:schemeClr val="tx2"/>
                          </a:solidFill>
                        </a:rPr>
                        <a:t>Target</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Oct (actual)</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Nov</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100" b="1" dirty="0">
                          <a:solidFill>
                            <a:schemeClr val="tx2"/>
                          </a:solidFill>
                        </a:rPr>
                        <a:t>Dec</a:t>
                      </a:r>
                      <a:endParaRPr lang="en-US" sz="11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9184">
                <a:tc>
                  <a:txBody>
                    <a:bodyPr/>
                    <a:lstStyle/>
                    <a:p>
                      <a:pPr indent="0" marL="0">
                        <a:buNone/>
                      </a:pPr>
                      <a:r>
                        <a:rPr lang="en-US" sz="1000" b="1" dirty="0">
                          <a:solidFill>
                            <a:schemeClr val="tx1"/>
                          </a:solidFill>
                        </a:rPr>
                        <a:t>Real-estate AI videos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9184">
                <a:tc>
                  <a:txBody>
                    <a:bodyPr/>
                    <a:lstStyle/>
                    <a:p>
                      <a:pPr indent="0" marL="0">
                        <a:buNone/>
                      </a:pPr>
                      <a:r>
                        <a:rPr lang="en-US" sz="1000" b="1" dirty="0">
                          <a:solidFill>
                            <a:schemeClr val="tx1"/>
                          </a:solidFill>
                        </a:rPr>
                        <a:t>AI creative deliverables</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9184">
                <a:tc>
                  <a:txBody>
                    <a:bodyPr/>
                    <a:lstStyle/>
                    <a:p>
                      <a:pPr indent="0" marL="0">
                        <a:buNone/>
                      </a:pPr>
                      <a:r>
                        <a:rPr lang="en-US" sz="1000" b="1" dirty="0">
                          <a:solidFill>
                            <a:schemeClr val="tx1"/>
                          </a:solidFill>
                        </a:rPr>
                        <a:t>Retainer delivery vs. scope</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r h="329184">
                <a:tc>
                  <a:txBody>
                    <a:bodyPr/>
                    <a:lstStyle/>
                    <a:p>
                      <a:pPr indent="0" marL="0">
                        <a:buNone/>
                      </a:pPr>
                      <a:r>
                        <a:rPr lang="en-US" sz="1000" b="1" dirty="0">
                          <a:solidFill>
                            <a:schemeClr val="tx1"/>
                          </a:solidFill>
                        </a:rPr>
                        <a:t>On-time delivery</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c>
                  <a:txBody>
                    <a:bodyPr/>
                    <a:lstStyle/>
                    <a:p>
                      <a:pPr indent="0" marL="0">
                        <a:buNone/>
                      </a:pPr>
                      <a:r>
                        <a:rPr lang="en-US" sz="1000" i="1" dirty="0">
                          <a:solidFill>
                            <a:schemeClr val="accent2"/>
                          </a:solidFill>
                        </a:rPr>
                        <a:t>[add]</a:t>
                      </a:r>
                      <a:endParaRPr lang="en-US" sz="1000" dirty="0"/>
                    </a:p>
                  </a:txBody>
                  <a:tcPr marL="45720" marR="45720" marT="45720" marB="45720"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chemeClr val="bg1">
                        <a:alpha val="0"/>
                      </a:schemeClr>
                    </a:solidFill>
                  </a:tcPr>
                </a:tc>
              </a:tr>
            </a:tbl>
          </a:graphicData>
        </a:graphic>
      </p:graphicFrame>
      <p:sp>
        <p:nvSpPr>
          <p:cNvPr id="5" name="Data placeholder"/>
          <p:cNvSpPr/>
          <p:nvPr/>
        </p:nvSpPr>
        <p:spPr>
          <a:xfrm>
            <a:off x="594360" y="3474720"/>
            <a:ext cx="6949440" cy="502920"/>
          </a:xfrm>
          <a:prstGeom prst="rect">
            <a:avLst/>
          </a:prstGeom>
          <a:solidFill>
            <a:schemeClr val="bg1">
              <a:alpha val="70000"/>
            </a:schemeClr>
          </a:solidFill>
          <a:ln w="15875">
            <a:solidFill>
              <a:schemeClr val="accent2"/>
            </a:solidFill>
            <a:prstDash val="dash"/>
          </a:ln>
        </p:spPr>
      </p:sp>
      <p:sp>
        <p:nvSpPr>
          <p:cNvPr id="6" name="Text 3"/>
          <p:cNvSpPr txBox="1"/>
          <p:nvPr/>
        </p:nvSpPr>
        <p:spPr>
          <a:xfrm>
            <a:off x="704088" y="3474720"/>
            <a:ext cx="6729984" cy="502920"/>
          </a:xfrm>
          <a:prstGeom prst="rect">
            <a:avLst/>
          </a:prstGeom>
          <a:noFill/>
          <a:ln/>
        </p:spPr>
        <p:txBody>
          <a:bodyPr wrap="square" lIns="0" tIns="0" rIns="0" bIns="0" rtlCol="0" anchor="ctr"/>
          <a:lstStyle/>
          <a:p>
            <a:pPr indent="0" marL="0">
              <a:buNone/>
            </a:pPr>
            <a:r>
              <a:rPr lang="en-US" sz="1100" b="1" dirty="0">
                <a:solidFill>
                  <a:schemeClr val="accent2"/>
                </a:solidFill>
              </a:rPr>
              <a:t>TO ADD: </a:t>
            </a:r>
            <a:pPr indent="0" marL="0">
              <a:buNone/>
            </a:pPr>
            <a:r>
              <a:rPr lang="en-US" sz="1100" i="1" dirty="0">
                <a:solidFill>
                  <a:schemeClr val="accent2"/>
                </a:solidFill>
              </a:rPr>
              <a:t>Any ask: AI tool budget, hiring decision, or billing TMB's over-scope work.</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Branding Team Feb 2026">
  <a:themeElements>
    <a:clrScheme name="Branding Team Feb 2026">
      <a:dk1>
        <a:srgbClr val="434343"/>
      </a:dk1>
      <a:lt1>
        <a:srgbClr val="FFFFFF"/>
      </a:lt1>
      <a:dk2>
        <a:srgbClr val="0B5394"/>
      </a:dk2>
      <a:lt2>
        <a:srgbClr val="F3F3F3"/>
      </a:lt2>
      <a:accent1>
        <a:srgbClr val="0B5394"/>
      </a:accent1>
      <a:accent2>
        <a:srgbClr val="CC0000"/>
      </a:accent2>
      <a:accent3>
        <a:srgbClr val="B45F06"/>
      </a:accent3>
      <a:accent4>
        <a:srgbClr val="777777"/>
      </a:accent4>
      <a:accent5>
        <a:srgbClr val="E3ECF6"/>
      </a:accent5>
      <a:accent6>
        <a:srgbClr val="F9E0E0"/>
      </a:accent6>
      <a:hlink>
        <a:srgbClr val="0B5394"/>
      </a:hlink>
      <a:folHlink>
        <a:srgbClr val="777777"/>
      </a:folHlink>
    </a:clrScheme>
    <a:fontScheme name="Branding Team Feb 2026">
      <a:majorFont>
        <a:latin typeface="Impac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Branding Team - JAS 2026 Review and OND Plan</dc:title>
  <dc:subject>PptxGenJS Presentation</dc:subject>
  <dc:creator>PptxGenJS</dc:creator>
  <cp:lastModifiedBy>PptxGenJS</cp:lastModifiedBy>
  <cp:revision>1</cp:revision>
  <dcterms:created xsi:type="dcterms:W3CDTF">2026-10-28T14:20:34Z</dcterms:created>
  <dcterms:modified xsi:type="dcterms:W3CDTF">2026-10-28T14:20:34Z</dcterms:modified>
</cp:coreProperties>
</file>